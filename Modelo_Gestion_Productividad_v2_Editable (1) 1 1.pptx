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slideLayouts/slideLayout4.xml" ContentType="application/vnd.openxmlformats-officedocument.presentationml.slideLayout+xml"/>
  <Override PartName="/docProps/app.xml" ContentType="application/vnd.openxmlformats-officedocument.extended-properties+xml"/>
  <Override PartName="/ppt/revisionInfo.xml" ContentType="application/vnd.ms-powerpoint.revisioninfo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slideLayouts/slideLayout8.xml" ContentType="application/vnd.openxmlformats-officedocument.presentationml.slideLayout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0691813" cy="75596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803411-F8D8-4F9A-A73E-5584CDFFA30A}" v="52" dt="2026-03-17T12:24:50.539"/>
    <p1510:client id="{AC834A3A-F417-2DE4-CB85-793979A97A51}" v="7" dt="2026-03-17T12:19:49.6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3" d="100"/>
          <a:sy n="83" d="100"/>
        </p:scale>
        <p:origin x="396" y="-1256"/>
      </p:cViewPr>
      <p:guideLst>
        <p:guide orient="horz" pos="2160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11" Type="http://schemas.openxmlformats.org/officeDocument/2006/relationships/customXml" Target="../customXml/item3.xml"/><Relationship Id="rId5" Type="http://schemas.openxmlformats.org/officeDocument/2006/relationships/viewProps" Target="viewProps.xml"/><Relationship Id="rId10" Type="http://schemas.openxmlformats.org/officeDocument/2006/relationships/customXml" Target="../customXml/item2.xml"/><Relationship Id="rId4" Type="http://schemas.openxmlformats.org/officeDocument/2006/relationships/presProps" Target="presProps.xml"/><Relationship Id="rId9" Type="http://schemas.openxmlformats.org/officeDocument/2006/relationships/customXml" Target="../customXml/item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ADA63D-2507-44C5-9BA4-85EA3CBA79F8}" type="datetimeFigureOut">
              <a:rPr lang="es-CL" smtClean="0"/>
              <a:t>17-03-2026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BAA8C-2601-4157-AECC-9496586CA016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7056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ABAA8C-2601-4157-AECC-9496586CA016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11867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50400" y="102646"/>
            <a:ext cx="7920000" cy="30777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50" b="1">
                <a:solidFill>
                  <a:srgbClr val="1B2A4A"/>
                </a:solidFill>
              </a:defRPr>
            </a:pPr>
            <a:r>
              <a:rPr sz="1400" dirty="0"/>
              <a:t>MODELO DE GESTIÓN DE PRODUCTIVIDAD DE SERVICIOS CONTRATADOS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50400" y="266647"/>
            <a:ext cx="792000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0">
                <a:solidFill>
                  <a:srgbClr val="718096"/>
                </a:solidFill>
              </a:defRPr>
            </a:pPr>
            <a:r>
              <a:rPr sz="1050" dirty="0" err="1"/>
              <a:t>Arquitectura</a:t>
            </a:r>
            <a:r>
              <a:rPr sz="1050" dirty="0"/>
              <a:t> de control </a:t>
            </a:r>
            <a:r>
              <a:rPr sz="1050" dirty="0" err="1"/>
              <a:t>operacional</a:t>
            </a:r>
            <a:r>
              <a:rPr sz="1050" dirty="0"/>
              <a:t>: </a:t>
            </a:r>
            <a:r>
              <a:rPr sz="1050" dirty="0" err="1"/>
              <a:t>estructura</a:t>
            </a:r>
            <a:r>
              <a:rPr sz="1050" dirty="0"/>
              <a:t>, </a:t>
            </a:r>
            <a:r>
              <a:rPr sz="1050" dirty="0" err="1"/>
              <a:t>dotación</a:t>
            </a:r>
            <a:r>
              <a:rPr sz="1050" dirty="0"/>
              <a:t>, </a:t>
            </a:r>
            <a:r>
              <a:rPr sz="1050" dirty="0" err="1"/>
              <a:t>ejecución</a:t>
            </a:r>
            <a:r>
              <a:rPr sz="1050" dirty="0"/>
              <a:t>, </a:t>
            </a:r>
            <a:r>
              <a:rPr sz="1050" dirty="0" err="1"/>
              <a:t>utilización</a:t>
            </a:r>
            <a:r>
              <a:rPr sz="1050" dirty="0"/>
              <a:t> y </a:t>
            </a:r>
            <a:r>
              <a:rPr sz="1050" dirty="0" err="1"/>
              <a:t>productividad</a:t>
            </a:r>
            <a:endParaRPr sz="1050" dirty="0"/>
          </a:p>
        </p:txBody>
      </p:sp>
      <p:sp>
        <p:nvSpPr>
          <p:cNvPr id="4" name="Rounded Rectangle 3"/>
          <p:cNvSpPr/>
          <p:nvPr/>
        </p:nvSpPr>
        <p:spPr>
          <a:xfrm>
            <a:off x="9385200" y="121833"/>
            <a:ext cx="874800" cy="230655"/>
          </a:xfrm>
          <a:prstGeom prst="roundRect">
            <a:avLst/>
          </a:prstGeom>
          <a:solidFill>
            <a:srgbClr val="1D4E6B"/>
          </a:solidFill>
          <a:ln>
            <a:solidFill>
              <a:srgbClr val="1D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360000" y="106267"/>
            <a:ext cx="900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50" b="1">
                <a:solidFill>
                  <a:srgbClr val="FFFFFF"/>
                </a:solidFill>
              </a:defRPr>
            </a:pPr>
            <a:r>
              <a:rPr sz="1000" dirty="0"/>
              <a:t>EJECUTIVO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85200" y="352488"/>
            <a:ext cx="900000" cy="2769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A0AEC0"/>
                </a:solidFill>
              </a:defRPr>
            </a:pPr>
            <a:r>
              <a:rPr sz="600" dirty="0"/>
              <a:t>Marzo 2026</a:t>
            </a:r>
            <a:br>
              <a:rPr sz="600" dirty="0"/>
            </a:br>
            <a:r>
              <a:rPr sz="600" dirty="0"/>
              <a:t>Uso </a:t>
            </a:r>
            <a:r>
              <a:rPr sz="600" dirty="0" err="1"/>
              <a:t>Interno</a:t>
            </a:r>
            <a:endParaRPr sz="600" dirty="0"/>
          </a:p>
        </p:txBody>
      </p:sp>
      <p:grpSp>
        <p:nvGrpSpPr>
          <p:cNvPr id="134" name="Grupo 133">
            <a:extLst>
              <a:ext uri="{FF2B5EF4-FFF2-40B4-BE49-F238E27FC236}">
                <a16:creationId xmlns:a16="http://schemas.microsoft.com/office/drawing/2014/main" id="{073C0ACC-67E5-876A-25B8-E611A6F805A3}"/>
              </a:ext>
            </a:extLst>
          </p:cNvPr>
          <p:cNvGrpSpPr/>
          <p:nvPr/>
        </p:nvGrpSpPr>
        <p:grpSpPr>
          <a:xfrm>
            <a:off x="266400" y="693840"/>
            <a:ext cx="9972000" cy="876394"/>
            <a:chOff x="288000" y="385200"/>
            <a:chExt cx="9972000" cy="876394"/>
          </a:xfrm>
        </p:grpSpPr>
        <p:sp>
          <p:nvSpPr>
            <p:cNvPr id="7" name="Rounded Rectangle 6"/>
            <p:cNvSpPr/>
            <p:nvPr/>
          </p:nvSpPr>
          <p:spPr>
            <a:xfrm>
              <a:off x="288000" y="403199"/>
              <a:ext cx="9946800" cy="811771"/>
            </a:xfrm>
            <a:prstGeom prst="roundRect">
              <a:avLst/>
            </a:prstGeom>
            <a:solidFill>
              <a:srgbClr val="1B2A4A"/>
            </a:solidFill>
            <a:ln>
              <a:solidFill>
                <a:srgbClr val="1B2A4A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88000" y="585951"/>
              <a:ext cx="743086" cy="338554"/>
            </a:xfrm>
            <a:prstGeom prst="rect">
              <a:avLst/>
            </a:prstGeom>
            <a:noFill/>
          </p:spPr>
          <p:txBody>
            <a:bodyPr wrap="square" anchor="ctr">
              <a:spAutoFit/>
            </a:bodyPr>
            <a:lstStyle/>
            <a:p>
              <a:pPr algn="ctr">
                <a:defRPr sz="400" b="1">
                  <a:solidFill>
                    <a:srgbClr val="C8A84B"/>
                  </a:solidFill>
                </a:defRPr>
              </a:pPr>
              <a:r>
                <a:rPr sz="800" dirty="0"/>
                <a:t>NARRATIVA DEL SISTEMA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972000" y="385200"/>
              <a:ext cx="9288000" cy="87639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>
                <a:lnSpc>
                  <a:spcPct val="130000"/>
                </a:lnSpc>
                <a:defRPr sz="480">
                  <a:solidFill>
                    <a:srgbClr val="DCDCDC"/>
                  </a:solidFill>
                </a:defRPr>
              </a:pPr>
              <a:r>
                <a:rPr sz="1000" dirty="0"/>
                <a:t>El valor del </a:t>
              </a:r>
              <a:r>
                <a:rPr sz="1000" dirty="0" err="1"/>
                <a:t>servicio</a:t>
              </a:r>
              <a:r>
                <a:rPr sz="1000" dirty="0"/>
                <a:t> </a:t>
              </a:r>
              <a:r>
                <a:rPr sz="1000" dirty="0" err="1"/>
                <a:t>contratado</a:t>
              </a:r>
              <a:r>
                <a:rPr sz="1000" dirty="0"/>
                <a:t> </a:t>
              </a:r>
              <a:r>
                <a:rPr sz="1000" dirty="0" err="1"/>
                <a:t>depende</a:t>
              </a:r>
              <a:r>
                <a:rPr sz="1000" dirty="0"/>
                <a:t> de la </a:t>
              </a:r>
              <a:r>
                <a:rPr sz="1000" dirty="0" err="1"/>
                <a:t>productividad</a:t>
              </a:r>
              <a:r>
                <a:rPr sz="1000" dirty="0"/>
                <a:t> con que se </a:t>
              </a:r>
              <a:r>
                <a:rPr sz="1000" dirty="0" err="1"/>
                <a:t>ejecuta</a:t>
              </a:r>
              <a:r>
                <a:rPr sz="1000" dirty="0"/>
                <a:t>. La </a:t>
              </a:r>
              <a:r>
                <a:rPr sz="1000" dirty="0" err="1"/>
                <a:t>productividad</a:t>
              </a:r>
              <a:r>
                <a:rPr sz="1000" dirty="0"/>
                <a:t> </a:t>
              </a:r>
              <a:r>
                <a:rPr sz="1000" dirty="0" err="1"/>
                <a:t>está</a:t>
              </a:r>
              <a:r>
                <a:rPr sz="1000" dirty="0"/>
                <a:t> </a:t>
              </a:r>
              <a:r>
                <a:rPr sz="1000" dirty="0" err="1"/>
                <a:t>determinada</a:t>
              </a:r>
              <a:r>
                <a:rPr sz="1000" dirty="0"/>
                <a:t> </a:t>
              </a:r>
              <a:r>
                <a:rPr sz="1000" dirty="0" err="1"/>
                <a:t>por</a:t>
              </a:r>
              <a:r>
                <a:rPr sz="1000" dirty="0"/>
                <a:t> </a:t>
              </a:r>
              <a:r>
                <a:rPr sz="1000" dirty="0" err="1"/>
                <a:t>tres</a:t>
              </a:r>
              <a:r>
                <a:rPr sz="1000" dirty="0"/>
                <a:t> variables </a:t>
              </a:r>
              <a:r>
                <a:rPr sz="1000" dirty="0" err="1"/>
                <a:t>operacionales</a:t>
              </a:r>
              <a:r>
                <a:rPr sz="1000" dirty="0"/>
                <a:t>: </a:t>
              </a:r>
              <a:r>
                <a:rPr sz="1000" dirty="0" err="1"/>
                <a:t>dotación</a:t>
              </a:r>
              <a:r>
                <a:rPr sz="1000" dirty="0"/>
                <a:t>, </a:t>
              </a:r>
              <a:r>
                <a:rPr sz="1000" dirty="0" err="1"/>
                <a:t>utilización</a:t>
              </a:r>
              <a:r>
                <a:rPr sz="1000" dirty="0"/>
                <a:t> </a:t>
              </a:r>
              <a:r>
                <a:rPr sz="1000" dirty="0" err="1"/>
                <a:t>efectiva</a:t>
              </a:r>
              <a:r>
                <a:rPr sz="1000" dirty="0"/>
                <a:t> del </a:t>
              </a:r>
              <a:r>
                <a:rPr sz="1000" dirty="0" err="1"/>
                <a:t>trabajo</a:t>
              </a:r>
              <a:r>
                <a:rPr sz="1000" dirty="0"/>
                <a:t> y output </a:t>
              </a:r>
              <a:r>
                <a:rPr sz="1000" dirty="0" err="1"/>
                <a:t>generado</a:t>
              </a:r>
              <a:r>
                <a:rPr sz="1000" dirty="0"/>
                <a:t> </a:t>
              </a:r>
              <a:r>
                <a:rPr sz="1000" dirty="0" err="1"/>
                <a:t>por</a:t>
              </a:r>
              <a:r>
                <a:rPr sz="1000" dirty="0"/>
                <a:t> persona.</a:t>
              </a:r>
              <a:r>
                <a:rPr lang="es-MX" sz="1000" dirty="0"/>
                <a:t> </a:t>
              </a:r>
            </a:p>
            <a:p>
              <a:pPr>
                <a:lnSpc>
                  <a:spcPct val="130000"/>
                </a:lnSpc>
                <a:defRPr sz="480">
                  <a:solidFill>
                    <a:srgbClr val="DCDCDC"/>
                  </a:solidFill>
                </a:defRPr>
              </a:pPr>
              <a:r>
                <a:rPr lang="es-MX" sz="1000" dirty="0"/>
                <a:t>Estas variables se gestionan a través de un proceso operacional estructurado y están gobernadas por un sistema documental que asegura consistencia, control y evidencia del proceso.</a:t>
              </a:r>
              <a:endParaRPr sz="1000" dirty="0"/>
            </a:p>
          </p:txBody>
        </p:sp>
      </p:grpSp>
      <p:sp>
        <p:nvSpPr>
          <p:cNvPr id="13" name="Rounded Rectangle 12"/>
          <p:cNvSpPr/>
          <p:nvPr/>
        </p:nvSpPr>
        <p:spPr>
          <a:xfrm>
            <a:off x="21001" y="1876689"/>
            <a:ext cx="367799" cy="818131"/>
          </a:xfrm>
          <a:prstGeom prst="roundRect">
            <a:avLst/>
          </a:prstGeom>
          <a:solidFill>
            <a:srgbClr val="1D4E6B"/>
          </a:solidFill>
          <a:ln>
            <a:solidFill>
              <a:srgbClr val="1D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5" name="Rounded Rectangle 14"/>
          <p:cNvSpPr/>
          <p:nvPr/>
        </p:nvSpPr>
        <p:spPr>
          <a:xfrm>
            <a:off x="406800" y="1876690"/>
            <a:ext cx="9828000" cy="756000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6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6" name="Rounded Rectangle 15"/>
          <p:cNvSpPr/>
          <p:nvPr/>
        </p:nvSpPr>
        <p:spPr>
          <a:xfrm>
            <a:off x="442800" y="1919890"/>
            <a:ext cx="1872000" cy="66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17" name="TextBox 16"/>
          <p:cNvSpPr txBox="1"/>
          <p:nvPr/>
        </p:nvSpPr>
        <p:spPr>
          <a:xfrm>
            <a:off x="442800" y="1896275"/>
            <a:ext cx="187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1">
                <a:solidFill>
                  <a:srgbClr val="1D4E6B"/>
                </a:solidFill>
              </a:defRPr>
            </a:pPr>
            <a:r>
              <a:rPr sz="900" dirty="0"/>
              <a:t>ESTRUCTURA DEL SERVICIO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2800" y="2068225"/>
            <a:ext cx="187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718096"/>
                </a:solidFill>
              </a:defRPr>
            </a:pPr>
            <a:r>
              <a:rPr sz="900" dirty="0"/>
              <a:t>Tipo, </a:t>
            </a:r>
            <a:r>
              <a:rPr sz="900" dirty="0" err="1"/>
              <a:t>criticidad</a:t>
            </a:r>
            <a:r>
              <a:rPr sz="900" dirty="0"/>
              <a:t>, </a:t>
            </a:r>
            <a:r>
              <a:rPr sz="900" dirty="0" err="1"/>
              <a:t>modalidad</a:t>
            </a:r>
            <a:r>
              <a:rPr sz="900" dirty="0"/>
              <a:t>, driver, </a:t>
            </a:r>
            <a:r>
              <a:rPr sz="900" dirty="0" err="1"/>
              <a:t>alcance</a:t>
            </a:r>
            <a:endParaRPr sz="900" dirty="0"/>
          </a:p>
        </p:txBody>
      </p:sp>
      <p:sp>
        <p:nvSpPr>
          <p:cNvPr id="19" name="TextBox 18"/>
          <p:cNvSpPr txBox="1"/>
          <p:nvPr/>
        </p:nvSpPr>
        <p:spPr>
          <a:xfrm>
            <a:off x="442800" y="2382770"/>
            <a:ext cx="18720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" b="0">
                <a:solidFill>
                  <a:srgbClr val="A0AEC0"/>
                </a:solidFill>
              </a:defRPr>
            </a:pPr>
            <a:r>
              <a:rPr lang="es-CL" sz="800" b="1" dirty="0"/>
              <a:t>D</a:t>
            </a:r>
            <a:r>
              <a:rPr sz="800" b="1" dirty="0" err="1"/>
              <a:t>efine</a:t>
            </a:r>
            <a:r>
              <a:rPr sz="800" b="1" dirty="0"/>
              <a:t> </a:t>
            </a:r>
            <a:r>
              <a:rPr sz="800" b="1" dirty="0" err="1"/>
              <a:t>contexto</a:t>
            </a:r>
            <a:endParaRPr sz="800" b="1" dirty="0"/>
          </a:p>
        </p:txBody>
      </p:sp>
      <p:sp>
        <p:nvSpPr>
          <p:cNvPr id="20" name="Rounded Rectangle 19"/>
          <p:cNvSpPr/>
          <p:nvPr/>
        </p:nvSpPr>
        <p:spPr>
          <a:xfrm>
            <a:off x="2379600" y="1919890"/>
            <a:ext cx="1872000" cy="66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1" name="TextBox 20"/>
          <p:cNvSpPr txBox="1"/>
          <p:nvPr/>
        </p:nvSpPr>
        <p:spPr>
          <a:xfrm>
            <a:off x="2379600" y="1896275"/>
            <a:ext cx="187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1">
                <a:solidFill>
                  <a:srgbClr val="1D4E6B"/>
                </a:solidFill>
              </a:defRPr>
            </a:pPr>
            <a:r>
              <a:rPr sz="900" dirty="0"/>
              <a:t>DOTACIÓN ESTRUCTURAL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79600" y="2068226"/>
            <a:ext cx="187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718096"/>
                </a:solidFill>
              </a:defRPr>
            </a:pPr>
            <a:r>
              <a:rPr sz="900" dirty="0"/>
              <a:t>FTE contractual, </a:t>
            </a:r>
            <a:r>
              <a:rPr sz="900" dirty="0" err="1"/>
              <a:t>presupuestado</a:t>
            </a:r>
            <a:r>
              <a:rPr sz="900" dirty="0"/>
              <a:t>, </a:t>
            </a:r>
            <a:r>
              <a:rPr sz="900" dirty="0" err="1"/>
              <a:t>aprobado</a:t>
            </a:r>
            <a:r>
              <a:rPr sz="900" dirty="0"/>
              <a:t>, roles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9600" y="2382770"/>
            <a:ext cx="18720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" b="0">
                <a:solidFill>
                  <a:srgbClr val="A0AEC0"/>
                </a:solidFill>
              </a:defRPr>
            </a:pPr>
            <a:r>
              <a:rPr lang="es-CL" sz="800" b="1" dirty="0"/>
              <a:t>H</a:t>
            </a:r>
            <a:r>
              <a:rPr sz="800" b="1" dirty="0" err="1"/>
              <a:t>abilita</a:t>
            </a:r>
            <a:r>
              <a:rPr sz="800" b="1" dirty="0"/>
              <a:t> </a:t>
            </a:r>
            <a:r>
              <a:rPr sz="800" b="1" dirty="0" err="1"/>
              <a:t>capacidad</a:t>
            </a:r>
            <a:endParaRPr sz="800" b="1" dirty="0"/>
          </a:p>
        </p:txBody>
      </p:sp>
      <p:sp>
        <p:nvSpPr>
          <p:cNvPr id="24" name="Rounded Rectangle 23"/>
          <p:cNvSpPr/>
          <p:nvPr/>
        </p:nvSpPr>
        <p:spPr>
          <a:xfrm>
            <a:off x="4316400" y="1919890"/>
            <a:ext cx="1872000" cy="66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5" name="TextBox 24"/>
          <p:cNvSpPr txBox="1"/>
          <p:nvPr/>
        </p:nvSpPr>
        <p:spPr>
          <a:xfrm>
            <a:off x="4316400" y="1896275"/>
            <a:ext cx="187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1">
                <a:solidFill>
                  <a:srgbClr val="2A6285"/>
                </a:solidFill>
              </a:defRPr>
            </a:pPr>
            <a:r>
              <a:rPr sz="900" dirty="0"/>
              <a:t>EJECUCIÓN Y CONTROL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16400" y="2068225"/>
            <a:ext cx="187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718096"/>
                </a:solidFill>
              </a:defRPr>
            </a:pPr>
            <a:r>
              <a:rPr sz="900" dirty="0"/>
              <a:t>FTE plan vs real, </a:t>
            </a:r>
            <a:r>
              <a:rPr sz="900" dirty="0" err="1"/>
              <a:t>desviaciones</a:t>
            </a:r>
            <a:r>
              <a:rPr sz="900" dirty="0"/>
              <a:t>, </a:t>
            </a:r>
            <a:r>
              <a:rPr sz="900" dirty="0" err="1"/>
              <a:t>alertas</a:t>
            </a:r>
            <a:r>
              <a:rPr sz="900" dirty="0"/>
              <a:t>, </a:t>
            </a:r>
            <a:r>
              <a:rPr sz="900" dirty="0" err="1"/>
              <a:t>cierre</a:t>
            </a:r>
            <a:endParaRPr sz="900" dirty="0"/>
          </a:p>
        </p:txBody>
      </p:sp>
      <p:sp>
        <p:nvSpPr>
          <p:cNvPr id="27" name="TextBox 26"/>
          <p:cNvSpPr txBox="1"/>
          <p:nvPr/>
        </p:nvSpPr>
        <p:spPr>
          <a:xfrm>
            <a:off x="4316400" y="2382770"/>
            <a:ext cx="18720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" b="0">
                <a:solidFill>
                  <a:srgbClr val="A0AEC0"/>
                </a:solidFill>
              </a:defRPr>
            </a:pPr>
            <a:r>
              <a:rPr lang="es-CL" sz="800" b="1" dirty="0"/>
              <a:t>M</a:t>
            </a:r>
            <a:r>
              <a:rPr sz="800" b="1" dirty="0" err="1"/>
              <a:t>onitorea</a:t>
            </a:r>
            <a:r>
              <a:rPr sz="800" b="1" dirty="0"/>
              <a:t> </a:t>
            </a:r>
            <a:r>
              <a:rPr sz="800" b="1" dirty="0" err="1"/>
              <a:t>ejecución</a:t>
            </a:r>
            <a:endParaRPr sz="800" b="1" dirty="0"/>
          </a:p>
        </p:txBody>
      </p:sp>
      <p:sp>
        <p:nvSpPr>
          <p:cNvPr id="28" name="Rounded Rectangle 27"/>
          <p:cNvSpPr/>
          <p:nvPr/>
        </p:nvSpPr>
        <p:spPr>
          <a:xfrm>
            <a:off x="6253200" y="1919890"/>
            <a:ext cx="1872000" cy="66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29" name="TextBox 28"/>
          <p:cNvSpPr txBox="1"/>
          <p:nvPr/>
        </p:nvSpPr>
        <p:spPr>
          <a:xfrm>
            <a:off x="6253200" y="1896275"/>
            <a:ext cx="187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1">
                <a:solidFill>
                  <a:srgbClr val="3A7CA5"/>
                </a:solidFill>
              </a:defRPr>
            </a:pPr>
            <a:r>
              <a:rPr sz="900" dirty="0"/>
              <a:t>PRODUCTIVIDAD Y UTILIZACIÓN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53200" y="2068225"/>
            <a:ext cx="187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718096"/>
                </a:solidFill>
              </a:defRPr>
            </a:pPr>
            <a:r>
              <a:rPr sz="900" dirty="0"/>
              <a:t>Output, </a:t>
            </a:r>
            <a:r>
              <a:rPr sz="900" dirty="0" err="1"/>
              <a:t>productividad</a:t>
            </a:r>
            <a:r>
              <a:rPr sz="900" dirty="0"/>
              <a:t>/FTE, HH/</a:t>
            </a:r>
            <a:r>
              <a:rPr sz="900" dirty="0" err="1"/>
              <a:t>unidad</a:t>
            </a:r>
            <a:r>
              <a:rPr sz="900" dirty="0"/>
              <a:t>, </a:t>
            </a:r>
            <a:r>
              <a:rPr sz="900" dirty="0" err="1"/>
              <a:t>ToT</a:t>
            </a:r>
            <a:endParaRPr sz="900" dirty="0"/>
          </a:p>
        </p:txBody>
      </p:sp>
      <p:sp>
        <p:nvSpPr>
          <p:cNvPr id="31" name="TextBox 30"/>
          <p:cNvSpPr txBox="1"/>
          <p:nvPr/>
        </p:nvSpPr>
        <p:spPr>
          <a:xfrm>
            <a:off x="6253200" y="2382770"/>
            <a:ext cx="1872000" cy="2154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30" b="0">
                <a:solidFill>
                  <a:srgbClr val="A0AEC0"/>
                </a:solidFill>
              </a:defRPr>
            </a:pPr>
            <a:r>
              <a:rPr lang="es-CL" sz="800" b="1" dirty="0"/>
              <a:t>E</a:t>
            </a:r>
            <a:r>
              <a:rPr sz="800" b="1" dirty="0" err="1"/>
              <a:t>valúa</a:t>
            </a:r>
            <a:r>
              <a:rPr sz="800" b="1" dirty="0"/>
              <a:t> </a:t>
            </a:r>
            <a:r>
              <a:rPr sz="800" b="1" dirty="0" err="1"/>
              <a:t>eficiencia</a:t>
            </a:r>
            <a:endParaRPr sz="800" b="1" dirty="0"/>
          </a:p>
        </p:txBody>
      </p:sp>
      <p:sp>
        <p:nvSpPr>
          <p:cNvPr id="32" name="Rounded Rectangle 31"/>
          <p:cNvSpPr/>
          <p:nvPr/>
        </p:nvSpPr>
        <p:spPr>
          <a:xfrm>
            <a:off x="8190000" y="1919890"/>
            <a:ext cx="1872000" cy="666000"/>
          </a:xfrm>
          <a:prstGeom prst="roundRect">
            <a:avLst/>
          </a:prstGeom>
          <a:solidFill>
            <a:srgbClr val="1D4E6B"/>
          </a:solidFill>
          <a:ln>
            <a:solidFill>
              <a:srgbClr val="1D4E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33" name="TextBox 32"/>
          <p:cNvSpPr txBox="1"/>
          <p:nvPr/>
        </p:nvSpPr>
        <p:spPr>
          <a:xfrm>
            <a:off x="8190000" y="1896275"/>
            <a:ext cx="187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80" b="1">
                <a:solidFill>
                  <a:srgbClr val="FFFFFF"/>
                </a:solidFill>
              </a:defRPr>
            </a:pPr>
            <a:r>
              <a:rPr sz="900" dirty="0"/>
              <a:t>DECISIÓN Y OPTIMIZACIÓN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90000" y="2068225"/>
            <a:ext cx="187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" b="0">
                <a:solidFill>
                  <a:srgbClr val="DCDCDC"/>
                </a:solidFill>
              </a:defRPr>
            </a:pPr>
            <a:r>
              <a:rPr sz="900" b="1" dirty="0" err="1"/>
              <a:t>Tendencia</a:t>
            </a:r>
            <a:r>
              <a:rPr sz="900" b="1" dirty="0"/>
              <a:t>, </a:t>
            </a:r>
            <a:r>
              <a:rPr sz="900" b="1" dirty="0" err="1"/>
              <a:t>estabilidad</a:t>
            </a:r>
            <a:r>
              <a:rPr sz="900" b="1" dirty="0"/>
              <a:t>, </a:t>
            </a:r>
            <a:r>
              <a:rPr sz="900" b="1" dirty="0" err="1"/>
              <a:t>oportunidades</a:t>
            </a:r>
            <a:r>
              <a:rPr sz="900" b="1" dirty="0"/>
              <a:t>, </a:t>
            </a:r>
            <a:r>
              <a:rPr sz="900" b="1" dirty="0" err="1"/>
              <a:t>decisión</a:t>
            </a:r>
            <a:endParaRPr sz="90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4747186" y="4279471"/>
            <a:ext cx="99799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50" b="0">
                <a:solidFill>
                  <a:srgbClr val="A0AEC0"/>
                </a:solidFill>
              </a:defRPr>
            </a:pPr>
            <a:r>
              <a:rPr lang="es-CL" sz="900" b="1" dirty="0"/>
              <a:t>G</a:t>
            </a:r>
            <a:r>
              <a:rPr sz="900" b="1" dirty="0" err="1"/>
              <a:t>obernado</a:t>
            </a:r>
            <a:r>
              <a:rPr sz="900" b="1" dirty="0"/>
              <a:t> </a:t>
            </a:r>
            <a:r>
              <a:rPr sz="900" b="1" dirty="0" err="1"/>
              <a:t>por</a:t>
            </a:r>
            <a:endParaRPr sz="900" b="1" dirty="0"/>
          </a:p>
        </p:txBody>
      </p:sp>
      <p:sp>
        <p:nvSpPr>
          <p:cNvPr id="37" name="Rounded Rectangle 36"/>
          <p:cNvSpPr/>
          <p:nvPr/>
        </p:nvSpPr>
        <p:spPr>
          <a:xfrm>
            <a:off x="21001" y="3115218"/>
            <a:ext cx="357999" cy="1052954"/>
          </a:xfrm>
          <a:prstGeom prst="roundRect">
            <a:avLst/>
          </a:prstGeom>
          <a:solidFill>
            <a:srgbClr val="2A6285"/>
          </a:solidFill>
          <a:ln>
            <a:solidFill>
              <a:srgbClr val="2A628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414080" y="3143307"/>
            <a:ext cx="9828000" cy="1073240"/>
          </a:xfrm>
          <a:prstGeom prst="roundRect">
            <a:avLst/>
          </a:prstGeom>
          <a:solidFill>
            <a:srgbClr val="F0F7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406801" y="3152342"/>
            <a:ext cx="1332000" cy="90815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1" name="TextBox 40"/>
          <p:cNvSpPr txBox="1"/>
          <p:nvPr/>
        </p:nvSpPr>
        <p:spPr>
          <a:xfrm>
            <a:off x="379000" y="3186347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SP1</a:t>
            </a:r>
            <a:endParaRPr sz="500" dirty="0"/>
          </a:p>
        </p:txBody>
      </p:sp>
      <p:sp>
        <p:nvSpPr>
          <p:cNvPr id="42" name="TextBox 41"/>
          <p:cNvSpPr txBox="1"/>
          <p:nvPr/>
        </p:nvSpPr>
        <p:spPr>
          <a:xfrm>
            <a:off x="416019" y="3418200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 err="1"/>
              <a:t>Clasificación</a:t>
            </a:r>
            <a:r>
              <a:rPr sz="900" dirty="0"/>
              <a:t> Servicio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3486" y="3757906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/>
              <a:t>Define </a:t>
            </a:r>
            <a:r>
              <a:rPr sz="900" dirty="0" err="1"/>
              <a:t>contexto</a:t>
            </a:r>
            <a:endParaRPr sz="900" dirty="0"/>
          </a:p>
        </p:txBody>
      </p:sp>
      <p:sp>
        <p:nvSpPr>
          <p:cNvPr id="44" name="Rounded Rectangle 43"/>
          <p:cNvSpPr/>
          <p:nvPr/>
        </p:nvSpPr>
        <p:spPr>
          <a:xfrm>
            <a:off x="17820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5" name="TextBox 44"/>
          <p:cNvSpPr txBox="1"/>
          <p:nvPr/>
        </p:nvSpPr>
        <p:spPr>
          <a:xfrm>
            <a:off x="1802691" y="3186347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SP2</a:t>
            </a:r>
            <a:endParaRPr sz="700" dirty="0"/>
          </a:p>
        </p:txBody>
      </p:sp>
      <p:sp>
        <p:nvSpPr>
          <p:cNvPr id="46" name="TextBox 45"/>
          <p:cNvSpPr txBox="1"/>
          <p:nvPr/>
        </p:nvSpPr>
        <p:spPr>
          <a:xfrm>
            <a:off x="1791219" y="3418200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 err="1"/>
              <a:t>Planificación</a:t>
            </a:r>
            <a:r>
              <a:rPr sz="900" dirty="0"/>
              <a:t> </a:t>
            </a:r>
            <a:r>
              <a:rPr sz="900" dirty="0" err="1"/>
              <a:t>Dotacional</a:t>
            </a:r>
            <a:endParaRPr sz="900" dirty="0"/>
          </a:p>
        </p:txBody>
      </p:sp>
      <p:sp>
        <p:nvSpPr>
          <p:cNvPr id="47" name="TextBox 46"/>
          <p:cNvSpPr txBox="1"/>
          <p:nvPr/>
        </p:nvSpPr>
        <p:spPr>
          <a:xfrm>
            <a:off x="1773881" y="3767009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Construye</a:t>
            </a:r>
            <a:r>
              <a:rPr sz="900" dirty="0"/>
              <a:t> </a:t>
            </a:r>
            <a:r>
              <a:rPr sz="900" dirty="0" err="1"/>
              <a:t>línea</a:t>
            </a:r>
            <a:r>
              <a:rPr sz="900" dirty="0"/>
              <a:t> base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1572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49" name="TextBox 48"/>
          <p:cNvSpPr txBox="1"/>
          <p:nvPr/>
        </p:nvSpPr>
        <p:spPr>
          <a:xfrm>
            <a:off x="3147499" y="3156558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SP3</a:t>
            </a:r>
            <a:endParaRPr sz="700" dirty="0"/>
          </a:p>
        </p:txBody>
      </p:sp>
      <p:sp>
        <p:nvSpPr>
          <p:cNvPr id="50" name="TextBox 49"/>
          <p:cNvSpPr txBox="1"/>
          <p:nvPr/>
        </p:nvSpPr>
        <p:spPr>
          <a:xfrm>
            <a:off x="3134691" y="3340235"/>
            <a:ext cx="1332000" cy="3693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 err="1"/>
              <a:t>Categorización</a:t>
            </a:r>
            <a:r>
              <a:rPr sz="900" dirty="0"/>
              <a:t> </a:t>
            </a:r>
            <a:r>
              <a:rPr sz="900" dirty="0" err="1"/>
              <a:t>Dotacional</a:t>
            </a:r>
            <a:endParaRPr sz="900" dirty="0"/>
          </a:p>
        </p:txBody>
      </p:sp>
      <p:sp>
        <p:nvSpPr>
          <p:cNvPr id="51" name="TextBox 50"/>
          <p:cNvSpPr txBox="1"/>
          <p:nvPr/>
        </p:nvSpPr>
        <p:spPr>
          <a:xfrm>
            <a:off x="3105881" y="3775654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Clasifica</a:t>
            </a:r>
            <a:r>
              <a:rPr sz="900" dirty="0"/>
              <a:t> </a:t>
            </a:r>
            <a:r>
              <a:rPr sz="900" dirty="0" err="1"/>
              <a:t>estructura</a:t>
            </a:r>
            <a:endParaRPr sz="900" dirty="0"/>
          </a:p>
        </p:txBody>
      </p:sp>
      <p:sp>
        <p:nvSpPr>
          <p:cNvPr id="52" name="Rounded Rectangle 51"/>
          <p:cNvSpPr/>
          <p:nvPr/>
        </p:nvSpPr>
        <p:spPr>
          <a:xfrm>
            <a:off x="45324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3" name="TextBox 52"/>
          <p:cNvSpPr txBox="1"/>
          <p:nvPr/>
        </p:nvSpPr>
        <p:spPr>
          <a:xfrm>
            <a:off x="4556197" y="3175891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SP4</a:t>
            </a:r>
            <a:endParaRPr sz="700" dirty="0"/>
          </a:p>
        </p:txBody>
      </p:sp>
      <p:sp>
        <p:nvSpPr>
          <p:cNvPr id="54" name="TextBox 53"/>
          <p:cNvSpPr txBox="1"/>
          <p:nvPr/>
        </p:nvSpPr>
        <p:spPr>
          <a:xfrm>
            <a:off x="4532401" y="3418200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/>
              <a:t>Control y </a:t>
            </a:r>
            <a:r>
              <a:rPr sz="900" dirty="0" err="1"/>
              <a:t>Seguimiento</a:t>
            </a:r>
            <a:endParaRPr sz="900" dirty="0"/>
          </a:p>
        </p:txBody>
      </p:sp>
      <p:sp>
        <p:nvSpPr>
          <p:cNvPr id="55" name="TextBox 54"/>
          <p:cNvSpPr txBox="1"/>
          <p:nvPr/>
        </p:nvSpPr>
        <p:spPr>
          <a:xfrm>
            <a:off x="4481954" y="3776680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Monitorea</a:t>
            </a:r>
            <a:r>
              <a:rPr sz="900" dirty="0"/>
              <a:t> </a:t>
            </a:r>
            <a:r>
              <a:rPr sz="900" dirty="0" err="1"/>
              <a:t>ejecución</a:t>
            </a:r>
            <a:endParaRPr sz="900" dirty="0"/>
          </a:p>
        </p:txBody>
      </p:sp>
      <p:sp>
        <p:nvSpPr>
          <p:cNvPr id="56" name="Rounded Rectangle 55"/>
          <p:cNvSpPr/>
          <p:nvPr/>
        </p:nvSpPr>
        <p:spPr>
          <a:xfrm>
            <a:off x="59076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57" name="TextBox 56"/>
          <p:cNvSpPr txBox="1"/>
          <p:nvPr/>
        </p:nvSpPr>
        <p:spPr>
          <a:xfrm>
            <a:off x="5897899" y="3175891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SP5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907601" y="3399029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 err="1"/>
              <a:t>Gestión</a:t>
            </a:r>
            <a:r>
              <a:rPr sz="900" dirty="0"/>
              <a:t> </a:t>
            </a:r>
            <a:r>
              <a:rPr sz="900" dirty="0" err="1"/>
              <a:t>Desviaciones</a:t>
            </a:r>
            <a:endParaRPr sz="900" dirty="0"/>
          </a:p>
        </p:txBody>
      </p:sp>
      <p:sp>
        <p:nvSpPr>
          <p:cNvPr id="59" name="TextBox 58"/>
          <p:cNvSpPr txBox="1"/>
          <p:nvPr/>
        </p:nvSpPr>
        <p:spPr>
          <a:xfrm>
            <a:off x="5899481" y="3776680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Trata</a:t>
            </a:r>
            <a:r>
              <a:rPr sz="900" dirty="0"/>
              <a:t> </a:t>
            </a:r>
            <a:r>
              <a:rPr sz="900" dirty="0" err="1"/>
              <a:t>variaciones</a:t>
            </a:r>
            <a:endParaRPr sz="900" dirty="0"/>
          </a:p>
        </p:txBody>
      </p:sp>
      <p:sp>
        <p:nvSpPr>
          <p:cNvPr id="60" name="Rounded Rectangle 59"/>
          <p:cNvSpPr/>
          <p:nvPr/>
        </p:nvSpPr>
        <p:spPr>
          <a:xfrm>
            <a:off x="72828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1" name="TextBox 60"/>
          <p:cNvSpPr txBox="1"/>
          <p:nvPr/>
        </p:nvSpPr>
        <p:spPr>
          <a:xfrm>
            <a:off x="7300341" y="3175891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SP6</a:t>
            </a:r>
            <a:endParaRPr sz="700" dirty="0"/>
          </a:p>
        </p:txBody>
      </p:sp>
      <p:sp>
        <p:nvSpPr>
          <p:cNvPr id="62" name="TextBox 61"/>
          <p:cNvSpPr txBox="1"/>
          <p:nvPr/>
        </p:nvSpPr>
        <p:spPr>
          <a:xfrm>
            <a:off x="7282801" y="3436144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 err="1"/>
              <a:t>Análisis</a:t>
            </a:r>
            <a:r>
              <a:rPr sz="900" dirty="0"/>
              <a:t> </a:t>
            </a:r>
            <a:r>
              <a:rPr sz="900" dirty="0" err="1"/>
              <a:t>Productividad</a:t>
            </a:r>
            <a:endParaRPr sz="900" dirty="0"/>
          </a:p>
        </p:txBody>
      </p:sp>
      <p:sp>
        <p:nvSpPr>
          <p:cNvPr id="63" name="TextBox 62"/>
          <p:cNvSpPr txBox="1"/>
          <p:nvPr/>
        </p:nvSpPr>
        <p:spPr>
          <a:xfrm>
            <a:off x="7231481" y="3767009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Evalúa</a:t>
            </a:r>
            <a:r>
              <a:rPr sz="900" dirty="0"/>
              <a:t> </a:t>
            </a:r>
            <a:r>
              <a:rPr sz="900" dirty="0" err="1"/>
              <a:t>eficiencia</a:t>
            </a:r>
            <a:endParaRPr sz="900" dirty="0"/>
          </a:p>
        </p:txBody>
      </p:sp>
      <p:sp>
        <p:nvSpPr>
          <p:cNvPr id="64" name="Rounded Rectangle 63"/>
          <p:cNvSpPr/>
          <p:nvPr/>
        </p:nvSpPr>
        <p:spPr>
          <a:xfrm>
            <a:off x="8658001" y="3152342"/>
            <a:ext cx="1332000" cy="885088"/>
          </a:xfrm>
          <a:prstGeom prst="roundRect">
            <a:avLst/>
          </a:prstGeom>
          <a:solidFill>
            <a:srgbClr val="F7FAFC"/>
          </a:solidFill>
          <a:ln w="12700">
            <a:solidFill>
              <a:srgbClr val="D0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400"/>
          </a:p>
        </p:txBody>
      </p:sp>
      <p:sp>
        <p:nvSpPr>
          <p:cNvPr id="65" name="TextBox 64"/>
          <p:cNvSpPr txBox="1"/>
          <p:nvPr/>
        </p:nvSpPr>
        <p:spPr>
          <a:xfrm>
            <a:off x="8693081" y="3166299"/>
            <a:ext cx="13320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" b="1">
                <a:solidFill>
                  <a:srgbClr val="C8A84B"/>
                </a:solidFill>
              </a:defRPr>
            </a:pPr>
            <a:r>
              <a:rPr sz="1000" dirty="0"/>
              <a:t>SP7</a:t>
            </a:r>
            <a:endParaRPr sz="700" dirty="0"/>
          </a:p>
        </p:txBody>
      </p:sp>
      <p:sp>
        <p:nvSpPr>
          <p:cNvPr id="66" name="TextBox 65"/>
          <p:cNvSpPr txBox="1"/>
          <p:nvPr/>
        </p:nvSpPr>
        <p:spPr>
          <a:xfrm>
            <a:off x="8665280" y="3434528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2A6285"/>
                </a:solidFill>
              </a:defRPr>
            </a:pPr>
            <a:r>
              <a:rPr sz="900" dirty="0"/>
              <a:t>Outlook y </a:t>
            </a:r>
            <a:r>
              <a:rPr sz="900" dirty="0" err="1"/>
              <a:t>Optimización</a:t>
            </a:r>
            <a:endParaRPr sz="900" dirty="0"/>
          </a:p>
        </p:txBody>
      </p:sp>
      <p:sp>
        <p:nvSpPr>
          <p:cNvPr id="67" name="TextBox 66"/>
          <p:cNvSpPr txBox="1"/>
          <p:nvPr/>
        </p:nvSpPr>
        <p:spPr>
          <a:xfrm>
            <a:off x="8658001" y="3752467"/>
            <a:ext cx="13320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60" b="0">
                <a:solidFill>
                  <a:srgbClr val="718096"/>
                </a:solidFill>
              </a:defRPr>
            </a:pPr>
            <a:r>
              <a:rPr sz="900" dirty="0" err="1"/>
              <a:t>Proyecta</a:t>
            </a:r>
            <a:r>
              <a:rPr sz="900" dirty="0"/>
              <a:t> </a:t>
            </a:r>
            <a:r>
              <a:rPr sz="900" dirty="0" err="1"/>
              <a:t>mejoras</a:t>
            </a:r>
            <a:endParaRPr sz="900" dirty="0"/>
          </a:p>
        </p:txBody>
      </p:sp>
      <p:sp>
        <p:nvSpPr>
          <p:cNvPr id="68" name="Rounded Rectangle 67"/>
          <p:cNvSpPr/>
          <p:nvPr/>
        </p:nvSpPr>
        <p:spPr>
          <a:xfrm>
            <a:off x="74001" y="4681296"/>
            <a:ext cx="357999" cy="2269356"/>
          </a:xfrm>
          <a:prstGeom prst="roundRect">
            <a:avLst/>
          </a:prstGeom>
          <a:solidFill>
            <a:srgbClr val="4A5568"/>
          </a:solidFill>
          <a:ln>
            <a:solidFill>
              <a:srgbClr val="4A55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69" name="TextBox 68"/>
          <p:cNvSpPr txBox="1"/>
          <p:nvPr/>
        </p:nvSpPr>
        <p:spPr>
          <a:xfrm>
            <a:off x="-10599" y="5031617"/>
            <a:ext cx="553998" cy="1323439"/>
          </a:xfrm>
          <a:prstGeom prst="rect">
            <a:avLst/>
          </a:prstGeom>
          <a:noFill/>
        </p:spPr>
        <p:txBody>
          <a:bodyPr vert="vert270" wrap="square" anchor="ctr">
            <a:spAutoFit/>
          </a:bodyPr>
          <a:lstStyle/>
          <a:p>
            <a:pPr algn="ctr">
              <a:defRPr sz="300" b="1">
                <a:solidFill>
                  <a:srgbClr val="FFFFFF"/>
                </a:solidFill>
              </a:defRPr>
            </a:pPr>
            <a:r>
              <a:rPr sz="1200" dirty="0"/>
              <a:t>GOBERNANZA DOCUMENTAL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31999" y="4681294"/>
            <a:ext cx="9971813" cy="2569933"/>
          </a:xfrm>
          <a:prstGeom prst="roundRect">
            <a:avLst/>
          </a:prstGeom>
          <a:solidFill>
            <a:srgbClr val="F0F4F8"/>
          </a:solidFill>
          <a:ln w="12700">
            <a:solidFill>
              <a:srgbClr val="C8D6D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1" name="Rounded Rectangle 70"/>
          <p:cNvSpPr/>
          <p:nvPr/>
        </p:nvSpPr>
        <p:spPr>
          <a:xfrm>
            <a:off x="482400" y="4710096"/>
            <a:ext cx="1548000" cy="24970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2" name="Rectangle 71"/>
          <p:cNvSpPr/>
          <p:nvPr/>
        </p:nvSpPr>
        <p:spPr>
          <a:xfrm>
            <a:off x="468000" y="4710096"/>
            <a:ext cx="1548000" cy="136297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3" name="TextBox 72"/>
          <p:cNvSpPr txBox="1"/>
          <p:nvPr/>
        </p:nvSpPr>
        <p:spPr>
          <a:xfrm>
            <a:off x="458109" y="4656096"/>
            <a:ext cx="1490400" cy="2539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1050" dirty="0">
                <a:solidFill>
                  <a:schemeClr val="bg1"/>
                </a:solidFill>
              </a:rPr>
              <a:t>PROCEDIMIENTO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1865" y="4940169"/>
            <a:ext cx="149040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sz="800" b="1" dirty="0"/>
              <a:t>PRO-GST-01 </a:t>
            </a:r>
            <a:r>
              <a:rPr sz="800" b="1" dirty="0" err="1"/>
              <a:t>Gestión</a:t>
            </a:r>
            <a:r>
              <a:rPr sz="800" b="1" dirty="0"/>
              <a:t> de </a:t>
            </a:r>
            <a:r>
              <a:rPr sz="800" b="1" dirty="0" err="1"/>
              <a:t>Dotación</a:t>
            </a:r>
            <a:r>
              <a:rPr sz="800" b="1" dirty="0"/>
              <a:t> y </a:t>
            </a:r>
            <a:r>
              <a:rPr sz="800" b="1" dirty="0" err="1"/>
              <a:t>Productividad</a:t>
            </a:r>
            <a:endParaRPr sz="800" b="1" dirty="0"/>
          </a:p>
        </p:txBody>
      </p:sp>
      <p:sp>
        <p:nvSpPr>
          <p:cNvPr id="75" name="Rounded Rectangle 74"/>
          <p:cNvSpPr>
            <a:spLocks/>
          </p:cNvSpPr>
          <p:nvPr/>
        </p:nvSpPr>
        <p:spPr>
          <a:xfrm>
            <a:off x="2059200" y="4710096"/>
            <a:ext cx="1548000" cy="24970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6" name="Rectangle 75"/>
          <p:cNvSpPr/>
          <p:nvPr/>
        </p:nvSpPr>
        <p:spPr>
          <a:xfrm>
            <a:off x="2059200" y="4710097"/>
            <a:ext cx="1548000" cy="136296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77" name="TextBox 76"/>
          <p:cNvSpPr txBox="1"/>
          <p:nvPr/>
        </p:nvSpPr>
        <p:spPr>
          <a:xfrm>
            <a:off x="2088000" y="4659611"/>
            <a:ext cx="149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1000" dirty="0">
                <a:solidFill>
                  <a:schemeClr val="bg1"/>
                </a:solidFill>
              </a:rPr>
              <a:t>ESTÁNDARES (6)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101442" y="4960245"/>
            <a:ext cx="1490400" cy="14927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lang="es-MX" sz="700" b="1" dirty="0"/>
              <a:t>EST-GST-01 Clasificación servicio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MX" sz="700" b="1" dirty="0"/>
            </a:br>
            <a:r>
              <a:rPr lang="es-MX" sz="700" b="1" dirty="0"/>
              <a:t>EST-GST-02 Presupuestación FTE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MX" sz="700" b="1" dirty="0"/>
            </a:br>
            <a:r>
              <a:rPr lang="es-MX" sz="700" b="1" dirty="0"/>
              <a:t>EST-GST-03 Categorización dotacional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MX" sz="700" b="1" dirty="0"/>
            </a:br>
            <a:r>
              <a:rPr lang="es-MX" sz="700" b="1" dirty="0"/>
              <a:t>EST-GST-04 Control y seguimiento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MX" sz="700" b="1" dirty="0"/>
            </a:br>
            <a:r>
              <a:rPr lang="es-MX" sz="700" b="1" dirty="0"/>
              <a:t>EST-GST-05 Gestión desviaciones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MX" sz="700" b="1" dirty="0"/>
            </a:br>
            <a:r>
              <a:rPr lang="es-MX" sz="700" b="1" dirty="0"/>
              <a:t>EST-GST-06 Medición productividad</a:t>
            </a:r>
            <a:endParaRPr sz="700" b="1" dirty="0"/>
          </a:p>
        </p:txBody>
      </p:sp>
      <p:sp>
        <p:nvSpPr>
          <p:cNvPr id="84" name="Rounded Rectangle 83"/>
          <p:cNvSpPr>
            <a:spLocks/>
          </p:cNvSpPr>
          <p:nvPr/>
        </p:nvSpPr>
        <p:spPr>
          <a:xfrm>
            <a:off x="3650400" y="4710095"/>
            <a:ext cx="1548000" cy="249709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 dirty="0"/>
          </a:p>
        </p:txBody>
      </p:sp>
      <p:sp>
        <p:nvSpPr>
          <p:cNvPr id="85" name="Rectangle 84"/>
          <p:cNvSpPr/>
          <p:nvPr/>
        </p:nvSpPr>
        <p:spPr>
          <a:xfrm>
            <a:off x="3650400" y="4710097"/>
            <a:ext cx="1548000" cy="136296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6" name="TextBox 85"/>
          <p:cNvSpPr txBox="1"/>
          <p:nvPr/>
        </p:nvSpPr>
        <p:spPr>
          <a:xfrm>
            <a:off x="3688450" y="4664005"/>
            <a:ext cx="149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1000" dirty="0">
                <a:solidFill>
                  <a:schemeClr val="bg1"/>
                </a:solidFill>
              </a:rPr>
              <a:t>INSTRUCTIVOS (9)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636836" y="4878848"/>
            <a:ext cx="1530073" cy="224676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lang="es-CL" sz="700" b="1" dirty="0"/>
              <a:t>INS-GST-01 Clasificación servicio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INS-GST-02 Elaboración presupuesto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INS-GST-03 Categorización dotacional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INS-GST-04 Control operativo semanal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INS-GST-05 Cierre mensual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INS-GST-06 Gestión desviaciones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INS-GST-07 Análisis productividad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INS-GST-08 Outlook y optimización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INS-GST-09 Administración base maestra</a:t>
            </a:r>
            <a:endParaRPr sz="700" b="1" dirty="0"/>
          </a:p>
        </p:txBody>
      </p:sp>
      <p:sp>
        <p:nvSpPr>
          <p:cNvPr id="96" name="Rounded Rectangle 95"/>
          <p:cNvSpPr/>
          <p:nvPr/>
        </p:nvSpPr>
        <p:spPr>
          <a:xfrm>
            <a:off x="5241600" y="4710097"/>
            <a:ext cx="1548000" cy="24970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7" name="Rectangle 96"/>
          <p:cNvSpPr/>
          <p:nvPr/>
        </p:nvSpPr>
        <p:spPr>
          <a:xfrm>
            <a:off x="5241600" y="4710097"/>
            <a:ext cx="1548000" cy="144000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98" name="TextBox 97"/>
          <p:cNvSpPr txBox="1"/>
          <p:nvPr/>
        </p:nvSpPr>
        <p:spPr>
          <a:xfrm>
            <a:off x="5260099" y="4660616"/>
            <a:ext cx="1490400" cy="24622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1000" dirty="0">
                <a:solidFill>
                  <a:schemeClr val="bg1"/>
                </a:solidFill>
              </a:rPr>
              <a:t>FORMULARIOS (10)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270400" y="4932932"/>
            <a:ext cx="1480099" cy="213904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lang="es-CL" sz="700" b="1" dirty="0"/>
              <a:t>FOR-GST-01 Clasificación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FOR-GST-02 Presupuesto FTE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FOR-GST-03 Categorización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FOR-GST-04 Control semanal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FOR-GST-05 Cierre mensual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FOR-GST-06 Desviaciones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FOR-GST-07 Excepciones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FOR-GST-08 Productividad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FOR-GST-09 Outlook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FOR-GST-10 Ajuste línea base</a:t>
            </a:r>
            <a:endParaRPr sz="700" b="1" dirty="0"/>
          </a:p>
        </p:txBody>
      </p:sp>
      <p:sp>
        <p:nvSpPr>
          <p:cNvPr id="109" name="Rounded Rectangle 108"/>
          <p:cNvSpPr/>
          <p:nvPr/>
        </p:nvSpPr>
        <p:spPr>
          <a:xfrm>
            <a:off x="6847977" y="4725496"/>
            <a:ext cx="1548000" cy="24816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0" name="Rectangle 109"/>
          <p:cNvSpPr/>
          <p:nvPr/>
        </p:nvSpPr>
        <p:spPr>
          <a:xfrm>
            <a:off x="6832800" y="4710097"/>
            <a:ext cx="1548000" cy="148056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1" name="TextBox 110"/>
          <p:cNvSpPr txBox="1"/>
          <p:nvPr/>
        </p:nvSpPr>
        <p:spPr>
          <a:xfrm>
            <a:off x="6873996" y="4656096"/>
            <a:ext cx="14904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900" dirty="0">
                <a:solidFill>
                  <a:schemeClr val="bg1"/>
                </a:solidFill>
              </a:rPr>
              <a:t>REGISTROS (8)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927671" y="4932440"/>
            <a:ext cx="1490400" cy="19236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lang="es-CL" sz="700" b="1" dirty="0"/>
              <a:t>REG-GST-01 Base maestra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REG-GST-02 Histórico presupuestos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REG-GST-03 Histórico controles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REG-GST-04 Histórico cierres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REG-GST-05 Histórico desviaciones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REG-GST-06 Histórico excepciones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REG-GST-07 Histórico productividad</a:t>
            </a: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REG-GST-08 Histórico oportunidades</a:t>
            </a:r>
            <a:endParaRPr sz="700" b="1" dirty="0"/>
          </a:p>
        </p:txBody>
      </p:sp>
      <p:sp>
        <p:nvSpPr>
          <p:cNvPr id="120" name="Rounded Rectangle 119"/>
          <p:cNvSpPr/>
          <p:nvPr/>
        </p:nvSpPr>
        <p:spPr>
          <a:xfrm>
            <a:off x="8424000" y="4710096"/>
            <a:ext cx="1548000" cy="2541131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1" name="Rectangle 120"/>
          <p:cNvSpPr/>
          <p:nvPr/>
        </p:nvSpPr>
        <p:spPr>
          <a:xfrm>
            <a:off x="8424000" y="4710097"/>
            <a:ext cx="1548000" cy="144000"/>
          </a:xfrm>
          <a:prstGeom prst="rect">
            <a:avLst/>
          </a:prstGeom>
          <a:solidFill>
            <a:srgbClr val="3A7CA5"/>
          </a:solidFill>
          <a:ln>
            <a:solidFill>
              <a:srgbClr val="3A7C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22" name="TextBox 121"/>
          <p:cNvSpPr txBox="1"/>
          <p:nvPr/>
        </p:nvSpPr>
        <p:spPr>
          <a:xfrm>
            <a:off x="8395977" y="4675000"/>
            <a:ext cx="1490400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" b="1">
                <a:solidFill>
                  <a:srgbClr val="1D4E6B"/>
                </a:solidFill>
              </a:defRPr>
            </a:pPr>
            <a:r>
              <a:rPr sz="900" dirty="0">
                <a:solidFill>
                  <a:schemeClr val="bg1"/>
                </a:solidFill>
              </a:rPr>
              <a:t>ANEXOS TÉCNICOS (7)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288000" y="7333974"/>
            <a:ext cx="360000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50" b="0">
                <a:solidFill>
                  <a:srgbClr val="A0AEC0"/>
                </a:solidFill>
              </a:defRPr>
            </a:pPr>
            <a:r>
              <a:rPr sz="700"/>
              <a:t>PRO-GST-01 · Gestión de Dotación y Productividad de Servicios Terceros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4680000" y="7333974"/>
            <a:ext cx="360000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50" b="0">
                <a:solidFill>
                  <a:srgbClr val="718096"/>
                </a:solidFill>
              </a:defRPr>
            </a:pPr>
            <a:r>
              <a:rPr sz="700"/>
              <a:t>Modelo Causal  ·  Proceso Operacional  ·  Gobernanza Documental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516628" y="7308783"/>
            <a:ext cx="1980000" cy="20005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350" b="0">
                <a:solidFill>
                  <a:srgbClr val="A0AEC0"/>
                </a:solidFill>
              </a:defRPr>
            </a:pPr>
            <a:r>
              <a:rPr sz="700" dirty="0" err="1"/>
              <a:t>Confidencial</a:t>
            </a:r>
            <a:r>
              <a:rPr sz="700" dirty="0"/>
              <a:t> · Uso </a:t>
            </a:r>
            <a:r>
              <a:rPr sz="700" dirty="0" err="1"/>
              <a:t>Interno</a:t>
            </a:r>
            <a:endParaRPr sz="700" dirty="0"/>
          </a:p>
        </p:txBody>
      </p:sp>
      <p:sp>
        <p:nvSpPr>
          <p:cNvPr id="143" name="TextBox 35">
            <a:extLst>
              <a:ext uri="{FF2B5EF4-FFF2-40B4-BE49-F238E27FC236}">
                <a16:creationId xmlns:a16="http://schemas.microsoft.com/office/drawing/2014/main" id="{7A4BED18-E648-9681-CF1B-5218A422E0DD}"/>
              </a:ext>
            </a:extLst>
          </p:cNvPr>
          <p:cNvSpPr txBox="1"/>
          <p:nvPr/>
        </p:nvSpPr>
        <p:spPr>
          <a:xfrm>
            <a:off x="4621673" y="2763633"/>
            <a:ext cx="1232442" cy="2308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50" b="0">
                <a:solidFill>
                  <a:srgbClr val="A0AEC0"/>
                </a:solidFill>
              </a:defRPr>
            </a:pPr>
            <a:r>
              <a:rPr lang="es-CL" sz="900" b="1" dirty="0"/>
              <a:t>Gestionado mediante</a:t>
            </a:r>
            <a:endParaRPr sz="900" b="1" dirty="0"/>
          </a:p>
        </p:txBody>
      </p:sp>
      <p:cxnSp>
        <p:nvCxnSpPr>
          <p:cNvPr id="144" name="Conector recto 143">
            <a:extLst>
              <a:ext uri="{FF2B5EF4-FFF2-40B4-BE49-F238E27FC236}">
                <a16:creationId xmlns:a16="http://schemas.microsoft.com/office/drawing/2014/main" id="{ED7E3429-716F-AC42-00F2-6713E2DBFF7C}"/>
              </a:ext>
            </a:extLst>
          </p:cNvPr>
          <p:cNvCxnSpPr>
            <a:cxnSpLocks/>
          </p:cNvCxnSpPr>
          <p:nvPr/>
        </p:nvCxnSpPr>
        <p:spPr>
          <a:xfrm>
            <a:off x="5260099" y="2684491"/>
            <a:ext cx="0" cy="14647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116">
            <a:extLst>
              <a:ext uri="{FF2B5EF4-FFF2-40B4-BE49-F238E27FC236}">
                <a16:creationId xmlns:a16="http://schemas.microsoft.com/office/drawing/2014/main" id="{B3658FC1-1608-1928-9815-315F95C701E4}"/>
              </a:ext>
            </a:extLst>
          </p:cNvPr>
          <p:cNvSpPr txBox="1"/>
          <p:nvPr/>
        </p:nvSpPr>
        <p:spPr>
          <a:xfrm>
            <a:off x="8496000" y="4905832"/>
            <a:ext cx="1490400" cy="1677382"/>
          </a:xfrm>
          <a:prstGeom prst="rect">
            <a:avLst/>
          </a:prstGeom>
          <a:noFill/>
        </p:spPr>
        <p:txBody>
          <a:bodyPr wrap="square" lIns="91440" tIns="45720" rIns="91440" bIns="45720" anchor="ctr">
            <a:spAutoFit/>
          </a:bodyPr>
          <a:lstStyle/>
          <a:p>
            <a:pPr>
              <a:defRPr sz="300" b="0">
                <a:solidFill>
                  <a:srgbClr val="4A5568"/>
                </a:solidFill>
              </a:defRPr>
            </a:pPr>
            <a:r>
              <a:rPr lang="es-CL" sz="700" b="1" dirty="0"/>
              <a:t>ANX-GST-01 Reglas cálculo FTE</a:t>
            </a:r>
            <a:endParaRPr lang="es-ES" sz="700" dirty="0"/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ANX-GST-02 Tipos de servicio</a:t>
            </a:r>
            <a:endParaRPr lang="es-CL" sz="700" b="1" dirty="0">
              <a:ea typeface="Calibri"/>
              <a:cs typeface="Calibri"/>
            </a:endParaRP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ANX-GST-03 Categorías dotacionales</a:t>
            </a:r>
            <a:endParaRPr lang="es-CL" sz="700" b="1" dirty="0">
              <a:ea typeface="Calibri"/>
              <a:cs typeface="Calibri"/>
            </a:endParaRP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ANX-GST-04 Árbol decisión</a:t>
            </a:r>
            <a:endParaRPr lang="es-CL" sz="700" b="1" dirty="0">
              <a:ea typeface="Calibri"/>
              <a:cs typeface="Calibri"/>
            </a:endParaRP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ANX-GST-05 Métricas productividad</a:t>
            </a:r>
            <a:endParaRPr lang="es-CL" sz="700" b="1" dirty="0">
              <a:ea typeface="Calibri"/>
              <a:cs typeface="Calibri"/>
            </a:endParaRP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700" b="1" dirty="0"/>
            </a:br>
            <a:r>
              <a:rPr lang="es-CL" sz="700" b="1" dirty="0"/>
              <a:t>ANX-GST-06 Taxonomía tiempos</a:t>
            </a:r>
            <a:endParaRPr lang="es-CL" sz="700" b="1" dirty="0">
              <a:ea typeface="Calibri"/>
              <a:cs typeface="Calibri"/>
            </a:endParaRPr>
          </a:p>
          <a:p>
            <a:pPr>
              <a:defRPr sz="300" b="0">
                <a:solidFill>
                  <a:srgbClr val="4A5568"/>
                </a:solidFill>
              </a:defRPr>
            </a:pPr>
            <a:br>
              <a:rPr lang="es-CL" sz="600" b="1" dirty="0"/>
            </a:br>
            <a:r>
              <a:rPr lang="es-CL" sz="700" b="1" dirty="0"/>
              <a:t>ANX-GST-07 Fuentes de datos</a:t>
            </a:r>
            <a:endParaRPr sz="600" b="1" dirty="0">
              <a:ea typeface="Calibri"/>
              <a:cs typeface="Calibri"/>
            </a:endParaRPr>
          </a:p>
        </p:txBody>
      </p:sp>
      <p:sp>
        <p:nvSpPr>
          <p:cNvPr id="38" name="TextBox 37"/>
          <p:cNvSpPr txBox="1"/>
          <p:nvPr/>
        </p:nvSpPr>
        <p:spPr>
          <a:xfrm rot="16200000">
            <a:off x="-387161" y="3433554"/>
            <a:ext cx="1178658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" b="1">
                <a:solidFill>
                  <a:srgbClr val="FFFFFF"/>
                </a:solidFill>
              </a:defRPr>
            </a:pPr>
            <a:r>
              <a:rPr lang="es-CL" sz="1200" dirty="0"/>
              <a:t>PROCESO OPERACIONAL</a:t>
            </a:r>
            <a:endParaRPr sz="1200" dirty="0"/>
          </a:p>
        </p:txBody>
      </p:sp>
      <p:sp>
        <p:nvSpPr>
          <p:cNvPr id="11" name="TextBox 37">
            <a:extLst>
              <a:ext uri="{FF2B5EF4-FFF2-40B4-BE49-F238E27FC236}">
                <a16:creationId xmlns:a16="http://schemas.microsoft.com/office/drawing/2014/main" id="{DBAB72AB-CE8E-2C3A-4749-9B7C28DEF1AB}"/>
              </a:ext>
            </a:extLst>
          </p:cNvPr>
          <p:cNvSpPr txBox="1"/>
          <p:nvPr/>
        </p:nvSpPr>
        <p:spPr>
          <a:xfrm rot="16200000">
            <a:off x="-180845" y="2069025"/>
            <a:ext cx="807801" cy="46166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" b="1">
                <a:solidFill>
                  <a:srgbClr val="FFFFFF"/>
                </a:solidFill>
              </a:defRPr>
            </a:pPr>
            <a:r>
              <a:rPr lang="es-CL" sz="1200" dirty="0"/>
              <a:t>MODELO CAUSAL</a:t>
            </a:r>
            <a:endParaRPr sz="1200" dirty="0"/>
          </a:p>
        </p:txBody>
      </p:sp>
      <p:cxnSp>
        <p:nvCxnSpPr>
          <p:cNvPr id="146" name="Conector recto 145">
            <a:extLst>
              <a:ext uri="{FF2B5EF4-FFF2-40B4-BE49-F238E27FC236}">
                <a16:creationId xmlns:a16="http://schemas.microsoft.com/office/drawing/2014/main" id="{E48CB89C-7706-17F8-E3DE-B991074808C7}"/>
              </a:ext>
            </a:extLst>
          </p:cNvPr>
          <p:cNvCxnSpPr>
            <a:cxnSpLocks/>
          </p:cNvCxnSpPr>
          <p:nvPr/>
        </p:nvCxnSpPr>
        <p:spPr>
          <a:xfrm>
            <a:off x="5260099" y="4180477"/>
            <a:ext cx="0" cy="14647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ector recto 146">
            <a:extLst>
              <a:ext uri="{FF2B5EF4-FFF2-40B4-BE49-F238E27FC236}">
                <a16:creationId xmlns:a16="http://schemas.microsoft.com/office/drawing/2014/main" id="{5B1D59B4-65EE-7174-758E-76273510C66B}"/>
              </a:ext>
            </a:extLst>
          </p:cNvPr>
          <p:cNvCxnSpPr>
            <a:cxnSpLocks/>
          </p:cNvCxnSpPr>
          <p:nvPr/>
        </p:nvCxnSpPr>
        <p:spPr>
          <a:xfrm>
            <a:off x="5260099" y="2927521"/>
            <a:ext cx="0" cy="178788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ector recto 147">
            <a:extLst>
              <a:ext uri="{FF2B5EF4-FFF2-40B4-BE49-F238E27FC236}">
                <a16:creationId xmlns:a16="http://schemas.microsoft.com/office/drawing/2014/main" id="{29FD98BB-CC27-954E-4349-3FC82F8452D3}"/>
              </a:ext>
            </a:extLst>
          </p:cNvPr>
          <p:cNvCxnSpPr>
            <a:cxnSpLocks/>
          </p:cNvCxnSpPr>
          <p:nvPr/>
        </p:nvCxnSpPr>
        <p:spPr>
          <a:xfrm>
            <a:off x="5246182" y="4513134"/>
            <a:ext cx="0" cy="146477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8743E91485A5E45879A9B731E1658E0" ma:contentTypeVersion="3" ma:contentTypeDescription="Crear nuevo documento." ma:contentTypeScope="" ma:versionID="12b715dbede7b8453a80372b87912c2e">
  <xsd:schema xmlns:xsd="http://www.w3.org/2001/XMLSchema" xmlns:xs="http://www.w3.org/2001/XMLSchema" xmlns:p="http://schemas.microsoft.com/office/2006/metadata/properties" xmlns:ns2="407ea779-b773-4460-a625-b2007399de77" targetNamespace="http://schemas.microsoft.com/office/2006/metadata/properties" ma:root="true" ma:fieldsID="9a1435c839457a0ecc5089839f5f8934" ns2:_="">
    <xsd:import namespace="407ea779-b773-4460-a625-b2007399de7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7ea779-b773-4460-a625-b2007399de7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76766B6-13A1-4D0A-903F-4495AB4ABC81}"/>
</file>

<file path=customXml/itemProps2.xml><?xml version="1.0" encoding="utf-8"?>
<ds:datastoreItem xmlns:ds="http://schemas.openxmlformats.org/officeDocument/2006/customXml" ds:itemID="{BE1192FA-F1FB-488F-B14B-D1E7F74B9CD8}"/>
</file>

<file path=customXml/itemProps3.xml><?xml version="1.0" encoding="utf-8"?>
<ds:datastoreItem xmlns:ds="http://schemas.openxmlformats.org/officeDocument/2006/customXml" ds:itemID="{78024397-0001-4FDC-94E5-B24DA278D842}"/>
</file>

<file path=docProps/app.xml><?xml version="1.0" encoding="utf-8"?>
<Properties xmlns="http://schemas.openxmlformats.org/officeDocument/2006/extended-properties" xmlns:vt="http://schemas.openxmlformats.org/officeDocument/2006/docPropsVTypes">
  <TotalTime>199</TotalTime>
  <Words>422</Words>
  <Application>Microsoft Office PowerPoint</Application>
  <PresentationFormat>Personalizado</PresentationFormat>
  <Paragraphs>98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Isidora Escobar</dc:creator>
  <cp:keywords/>
  <dc:description>generated using python-pptx</dc:description>
  <cp:lastModifiedBy>Isidora Escobar</cp:lastModifiedBy>
  <cp:revision>13</cp:revision>
  <dcterms:created xsi:type="dcterms:W3CDTF">2013-01-27T09:14:16Z</dcterms:created>
  <dcterms:modified xsi:type="dcterms:W3CDTF">2026-03-17T12:24:50Z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0x01010008743E91485A5E45879A9B731E1658E0</vt:lpwstr>
  </property>
</Properties>
</file>