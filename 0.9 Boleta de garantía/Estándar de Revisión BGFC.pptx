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</p:sldIdLst>
  <p:sldSz cx="18288000" cy="10287000"/>
  <p:notesSz cx="6858000" cy="9144000"/>
  <p:embeddedFontLst>
    <p:embeddedFont>
      <p:font typeface="Arimo Bold" panose="020B0604020202020204" charset="0"/>
      <p:regular r:id="rId7"/>
    </p:embeddedFont>
    <p:embeddedFont>
      <p:font typeface="Trebuchet MS Bold" panose="020B0703020202020204" pitchFamily="34" charset="0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168AD3-5D77-985A-4946-8C121A55DC43}" v="29" dt="2026-03-10T21:13:50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Escobar" userId="S::iescobar@eeccmlp.cl::71b43869-7193-4f52-a4ee-93b6b055632f" providerId="AD" clId="Web-{1D168AD3-5D77-985A-4946-8C121A55DC43}"/>
    <pc:docChg chg="modSld">
      <pc:chgData name="Isidora Escobar" userId="S::iescobar@eeccmlp.cl::71b43869-7193-4f52-a4ee-93b6b055632f" providerId="AD" clId="Web-{1D168AD3-5D77-985A-4946-8C121A55DC43}" dt="2026-03-10T21:13:50.154" v="28"/>
      <pc:docMkLst>
        <pc:docMk/>
      </pc:docMkLst>
      <pc:sldChg chg="modSp">
        <pc:chgData name="Isidora Escobar" userId="S::iescobar@eeccmlp.cl::71b43869-7193-4f52-a4ee-93b6b055632f" providerId="AD" clId="Web-{1D168AD3-5D77-985A-4946-8C121A55DC43}" dt="2026-03-10T21:13:50.154" v="28"/>
        <pc:sldMkLst>
          <pc:docMk/>
          <pc:sldMk cId="0" sldId="257"/>
        </pc:sldMkLst>
        <pc:spChg chg="mod">
          <ac:chgData name="Isidora Escobar" userId="S::iescobar@eeccmlp.cl::71b43869-7193-4f52-a4ee-93b6b055632f" providerId="AD" clId="Web-{1D168AD3-5D77-985A-4946-8C121A55DC43}" dt="2026-03-10T21:13:47.794" v="0"/>
          <ac:spMkLst>
            <pc:docMk/>
            <pc:sldMk cId="0" sldId="257"/>
            <ac:spMk id="20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794" v="1"/>
          <ac:spMkLst>
            <pc:docMk/>
            <pc:sldMk cId="0" sldId="257"/>
            <ac:spMk id="42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10" v="2"/>
          <ac:spMkLst>
            <pc:docMk/>
            <pc:sldMk cId="0" sldId="257"/>
            <ac:spMk id="49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10" v="3"/>
          <ac:spMkLst>
            <pc:docMk/>
            <pc:sldMk cId="0" sldId="257"/>
            <ac:spMk id="50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10" v="4"/>
          <ac:spMkLst>
            <pc:docMk/>
            <pc:sldMk cId="0" sldId="257"/>
            <ac:spMk id="59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10" v="5"/>
          <ac:spMkLst>
            <pc:docMk/>
            <pc:sldMk cId="0" sldId="257"/>
            <ac:spMk id="60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10" v="6"/>
          <ac:spMkLst>
            <pc:docMk/>
            <pc:sldMk cId="0" sldId="257"/>
            <ac:spMk id="61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10" v="7"/>
          <ac:spMkLst>
            <pc:docMk/>
            <pc:sldMk cId="0" sldId="257"/>
            <ac:spMk id="62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10" v="8"/>
          <ac:spMkLst>
            <pc:docMk/>
            <pc:sldMk cId="0" sldId="257"/>
            <ac:spMk id="63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10" v="9"/>
          <ac:spMkLst>
            <pc:docMk/>
            <pc:sldMk cId="0" sldId="257"/>
            <ac:spMk id="68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10" v="10"/>
          <ac:spMkLst>
            <pc:docMk/>
            <pc:sldMk cId="0" sldId="257"/>
            <ac:spMk id="72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10" v="11"/>
          <ac:spMkLst>
            <pc:docMk/>
            <pc:sldMk cId="0" sldId="257"/>
            <ac:spMk id="75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10" v="12"/>
          <ac:spMkLst>
            <pc:docMk/>
            <pc:sldMk cId="0" sldId="257"/>
            <ac:spMk id="78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10" v="13"/>
          <ac:spMkLst>
            <pc:docMk/>
            <pc:sldMk cId="0" sldId="257"/>
            <ac:spMk id="85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26" v="14"/>
          <ac:spMkLst>
            <pc:docMk/>
            <pc:sldMk cId="0" sldId="257"/>
            <ac:spMk id="86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26" v="15"/>
          <ac:spMkLst>
            <pc:docMk/>
            <pc:sldMk cId="0" sldId="257"/>
            <ac:spMk id="87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26" v="16"/>
          <ac:spMkLst>
            <pc:docMk/>
            <pc:sldMk cId="0" sldId="257"/>
            <ac:spMk id="88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26" v="17"/>
          <ac:spMkLst>
            <pc:docMk/>
            <pc:sldMk cId="0" sldId="257"/>
            <ac:spMk id="89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26" v="18"/>
          <ac:spMkLst>
            <pc:docMk/>
            <pc:sldMk cId="0" sldId="257"/>
            <ac:spMk id="90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41" v="19"/>
          <ac:spMkLst>
            <pc:docMk/>
            <pc:sldMk cId="0" sldId="257"/>
            <ac:spMk id="91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41" v="20"/>
          <ac:spMkLst>
            <pc:docMk/>
            <pc:sldMk cId="0" sldId="257"/>
            <ac:spMk id="92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57" v="21"/>
          <ac:spMkLst>
            <pc:docMk/>
            <pc:sldMk cId="0" sldId="257"/>
            <ac:spMk id="93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57" v="22"/>
          <ac:spMkLst>
            <pc:docMk/>
            <pc:sldMk cId="0" sldId="257"/>
            <ac:spMk id="94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57" v="23"/>
          <ac:spMkLst>
            <pc:docMk/>
            <pc:sldMk cId="0" sldId="257"/>
            <ac:spMk id="95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72" v="24"/>
          <ac:spMkLst>
            <pc:docMk/>
            <pc:sldMk cId="0" sldId="257"/>
            <ac:spMk id="96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72" v="25"/>
          <ac:spMkLst>
            <pc:docMk/>
            <pc:sldMk cId="0" sldId="257"/>
            <ac:spMk id="97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72" v="26"/>
          <ac:spMkLst>
            <pc:docMk/>
            <pc:sldMk cId="0" sldId="257"/>
            <ac:spMk id="98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47.872" v="27"/>
          <ac:spMkLst>
            <pc:docMk/>
            <pc:sldMk cId="0" sldId="257"/>
            <ac:spMk id="99" creationId="{00000000-0000-0000-0000-000000000000}"/>
          </ac:spMkLst>
        </pc:spChg>
        <pc:spChg chg="mod">
          <ac:chgData name="Isidora Escobar" userId="S::iescobar@eeccmlp.cl::71b43869-7193-4f52-a4ee-93b6b055632f" providerId="AD" clId="Web-{1D168AD3-5D77-985A-4946-8C121A55DC43}" dt="2026-03-10T21:13:50.154" v="28"/>
          <ac:spMkLst>
            <pc:docMk/>
            <pc:sldMk cId="0" sldId="257"/>
            <ac:spMk id="10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18" Type="http://schemas.openxmlformats.org/officeDocument/2006/relationships/image" Target="../media/image20.sv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3.jpe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svg"/><Relationship Id="rId10" Type="http://schemas.openxmlformats.org/officeDocument/2006/relationships/image" Target="../media/image12.svg"/><Relationship Id="rId19" Type="http://schemas.openxmlformats.org/officeDocument/2006/relationships/image" Target="../media/image21.pn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Relationship Id="rId2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73544"/>
            <a:ext cx="11115227" cy="9213456"/>
            <a:chOff x="0" y="0"/>
            <a:chExt cx="14820303" cy="12284608"/>
          </a:xfrm>
        </p:grpSpPr>
        <p:sp>
          <p:nvSpPr>
            <p:cNvPr id="3" name="Freeform 3" descr="A picture containing art, screenshot, graphic design  Description automatically generated"/>
            <p:cNvSpPr/>
            <p:nvPr/>
          </p:nvSpPr>
          <p:spPr>
            <a:xfrm>
              <a:off x="0" y="0"/>
              <a:ext cx="14820264" cy="12284583"/>
            </a:xfrm>
            <a:custGeom>
              <a:avLst/>
              <a:gdLst/>
              <a:ahLst/>
              <a:cxnLst/>
              <a:rect l="l" t="t" r="r" b="b"/>
              <a:pathLst>
                <a:path w="14820264" h="12284583">
                  <a:moveTo>
                    <a:pt x="0" y="0"/>
                  </a:moveTo>
                  <a:lnTo>
                    <a:pt x="14820264" y="0"/>
                  </a:lnTo>
                  <a:lnTo>
                    <a:pt x="14820264" y="12284583"/>
                  </a:lnTo>
                  <a:lnTo>
                    <a:pt x="0" y="122845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2" r="-6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3397691" cy="8881910"/>
            <a:chOff x="0" y="0"/>
            <a:chExt cx="4530255" cy="11842547"/>
          </a:xfrm>
        </p:grpSpPr>
        <p:sp>
          <p:nvSpPr>
            <p:cNvPr id="5" name="Freeform 5" descr="A yellow blue and black logo  Description automatically generated with low confidence"/>
            <p:cNvSpPr/>
            <p:nvPr/>
          </p:nvSpPr>
          <p:spPr>
            <a:xfrm>
              <a:off x="0" y="0"/>
              <a:ext cx="4530217" cy="11842496"/>
            </a:xfrm>
            <a:custGeom>
              <a:avLst/>
              <a:gdLst/>
              <a:ahLst/>
              <a:cxnLst/>
              <a:rect l="l" t="t" r="r" b="b"/>
              <a:pathLst>
                <a:path w="4530217" h="11842496">
                  <a:moveTo>
                    <a:pt x="0" y="0"/>
                  </a:moveTo>
                  <a:lnTo>
                    <a:pt x="4530217" y="0"/>
                  </a:lnTo>
                  <a:lnTo>
                    <a:pt x="4530217" y="11842496"/>
                  </a:lnTo>
                  <a:lnTo>
                    <a:pt x="0" y="11842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5117" t="-56534" b="-1258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7832927" y="679167"/>
            <a:ext cx="10455073" cy="303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 b="1">
                <a:solidFill>
                  <a:srgbClr val="007C92"/>
                </a:solidFill>
                <a:latin typeface="Arimo Bold"/>
                <a:ea typeface="Arimo Bold"/>
                <a:cs typeface="Arimo Bold"/>
                <a:sym typeface="Arimo Bold"/>
              </a:rPr>
              <a:t>Estándar Revisión de Boletas de Garantía (BGFC)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981877" y="9047569"/>
            <a:ext cx="7306123" cy="1239431"/>
            <a:chOff x="0" y="0"/>
            <a:chExt cx="9741497" cy="16525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741535" cy="1652524"/>
            </a:xfrm>
            <a:custGeom>
              <a:avLst/>
              <a:gdLst/>
              <a:ahLst/>
              <a:cxnLst/>
              <a:rect l="l" t="t" r="r" b="b"/>
              <a:pathLst>
                <a:path w="9741535" h="1652524">
                  <a:moveTo>
                    <a:pt x="0" y="0"/>
                  </a:moveTo>
                  <a:lnTo>
                    <a:pt x="9741535" y="0"/>
                  </a:lnTo>
                  <a:lnTo>
                    <a:pt x="9741535" y="1652524"/>
                  </a:lnTo>
                  <a:lnTo>
                    <a:pt x="0" y="1652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8194314" y="3993280"/>
            <a:ext cx="9732300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 b="1">
                <a:solidFill>
                  <a:srgbClr val="00778B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Resumen Ejecutivo de Control y Gestión de Servicios Terceros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980368" y="-70933"/>
            <a:ext cx="1222248" cy="1225296"/>
            <a:chOff x="0" y="0"/>
            <a:chExt cx="1629664" cy="1633728"/>
          </a:xfrm>
        </p:grpSpPr>
        <p:sp>
          <p:nvSpPr>
            <p:cNvPr id="3" name="Freeform 3" descr="Imagen que contiene Interfaz de usuario gráfica  Descripción generada automáticamente"/>
            <p:cNvSpPr/>
            <p:nvPr/>
          </p:nvSpPr>
          <p:spPr>
            <a:xfrm>
              <a:off x="0" y="0"/>
              <a:ext cx="1629664" cy="1633728"/>
            </a:xfrm>
            <a:custGeom>
              <a:avLst/>
              <a:gdLst/>
              <a:ahLst/>
              <a:cxnLst/>
              <a:rect l="l" t="t" r="r" b="b"/>
              <a:pathLst>
                <a:path w="1629664" h="1633728">
                  <a:moveTo>
                    <a:pt x="0" y="0"/>
                  </a:moveTo>
                  <a:lnTo>
                    <a:pt x="1629664" y="0"/>
                  </a:lnTo>
                  <a:lnTo>
                    <a:pt x="1629664" y="1633728"/>
                  </a:lnTo>
                  <a:lnTo>
                    <a:pt x="0" y="1633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4" r="-12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724832" y="1125312"/>
            <a:ext cx="374618" cy="374618"/>
            <a:chOff x="0" y="0"/>
            <a:chExt cx="499491" cy="4994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9491" cy="499491"/>
            </a:xfrm>
            <a:custGeom>
              <a:avLst/>
              <a:gdLst/>
              <a:ahLst/>
              <a:cxnLst/>
              <a:rect l="l" t="t" r="r" b="b"/>
              <a:pathLst>
                <a:path w="499491" h="499491">
                  <a:moveTo>
                    <a:pt x="0" y="0"/>
                  </a:moveTo>
                  <a:lnTo>
                    <a:pt x="499491" y="0"/>
                  </a:lnTo>
                  <a:lnTo>
                    <a:pt x="499491" y="499491"/>
                  </a:lnTo>
                  <a:lnTo>
                    <a:pt x="0" y="499491"/>
                  </a:lnTo>
                  <a:close/>
                </a:path>
              </a:pathLst>
            </a:custGeom>
            <a:solidFill>
              <a:srgbClr val="007A94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231962" y="1125312"/>
            <a:ext cx="374618" cy="374618"/>
            <a:chOff x="0" y="0"/>
            <a:chExt cx="499491" cy="49949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9491" cy="499491"/>
            </a:xfrm>
            <a:custGeom>
              <a:avLst/>
              <a:gdLst/>
              <a:ahLst/>
              <a:cxnLst/>
              <a:rect l="l" t="t" r="r" b="b"/>
              <a:pathLst>
                <a:path w="499491" h="499491">
                  <a:moveTo>
                    <a:pt x="0" y="0"/>
                  </a:moveTo>
                  <a:lnTo>
                    <a:pt x="499491" y="0"/>
                  </a:lnTo>
                  <a:lnTo>
                    <a:pt x="499491" y="499491"/>
                  </a:lnTo>
                  <a:lnTo>
                    <a:pt x="0" y="499491"/>
                  </a:lnTo>
                  <a:close/>
                </a:path>
              </a:pathLst>
            </a:custGeom>
            <a:solidFill>
              <a:srgbClr val="62CDC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739102" y="1125312"/>
            <a:ext cx="374618" cy="374618"/>
            <a:chOff x="0" y="0"/>
            <a:chExt cx="499491" cy="4994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9491" cy="499491"/>
            </a:xfrm>
            <a:custGeom>
              <a:avLst/>
              <a:gdLst/>
              <a:ahLst/>
              <a:cxnLst/>
              <a:rect l="l" t="t" r="r" b="b"/>
              <a:pathLst>
                <a:path w="499491" h="499491">
                  <a:moveTo>
                    <a:pt x="0" y="0"/>
                  </a:moveTo>
                  <a:lnTo>
                    <a:pt x="499491" y="0"/>
                  </a:lnTo>
                  <a:lnTo>
                    <a:pt x="499491" y="499491"/>
                  </a:lnTo>
                  <a:lnTo>
                    <a:pt x="0" y="499491"/>
                  </a:lnTo>
                  <a:close/>
                </a:path>
              </a:pathLst>
            </a:custGeom>
            <a:solidFill>
              <a:srgbClr val="D42029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7246232" y="1125312"/>
            <a:ext cx="374618" cy="374618"/>
            <a:chOff x="0" y="0"/>
            <a:chExt cx="499491" cy="4994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99491" cy="499491"/>
            </a:xfrm>
            <a:custGeom>
              <a:avLst/>
              <a:gdLst/>
              <a:ahLst/>
              <a:cxnLst/>
              <a:rect l="l" t="t" r="r" b="b"/>
              <a:pathLst>
                <a:path w="499491" h="499491">
                  <a:moveTo>
                    <a:pt x="0" y="0"/>
                  </a:moveTo>
                  <a:lnTo>
                    <a:pt x="499491" y="0"/>
                  </a:lnTo>
                  <a:lnTo>
                    <a:pt x="499491" y="499491"/>
                  </a:lnTo>
                  <a:lnTo>
                    <a:pt x="0" y="499491"/>
                  </a:lnTo>
                  <a:close/>
                </a:path>
              </a:pathLst>
            </a:custGeom>
            <a:solidFill>
              <a:srgbClr val="EDAB00"/>
            </a:solidFill>
          </p:spPr>
        </p:sp>
      </p:grpSp>
      <p:sp>
        <p:nvSpPr>
          <p:cNvPr id="12" name="Freeform 12" descr="Signo de intercalación hacia arriba contorno"/>
          <p:cNvSpPr/>
          <p:nvPr/>
        </p:nvSpPr>
        <p:spPr>
          <a:xfrm>
            <a:off x="17182528" y="8698925"/>
            <a:ext cx="1027224" cy="1027224"/>
          </a:xfrm>
          <a:custGeom>
            <a:avLst/>
            <a:gdLst/>
            <a:ahLst/>
            <a:cxnLst/>
            <a:rect l="l" t="t" r="r" b="b"/>
            <a:pathLst>
              <a:path w="1027224" h="1027224">
                <a:moveTo>
                  <a:pt x="0" y="0"/>
                </a:moveTo>
                <a:lnTo>
                  <a:pt x="1027224" y="0"/>
                </a:lnTo>
                <a:lnTo>
                  <a:pt x="1027224" y="1027224"/>
                </a:lnTo>
                <a:lnTo>
                  <a:pt x="0" y="1027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 descr="Signo de intercalación hacia arriba contorno"/>
          <p:cNvSpPr/>
          <p:nvPr/>
        </p:nvSpPr>
        <p:spPr>
          <a:xfrm>
            <a:off x="17182528" y="9015412"/>
            <a:ext cx="1027224" cy="1027224"/>
          </a:xfrm>
          <a:custGeom>
            <a:avLst/>
            <a:gdLst/>
            <a:ahLst/>
            <a:cxnLst/>
            <a:rect l="l" t="t" r="r" b="b"/>
            <a:pathLst>
              <a:path w="1027224" h="1027224">
                <a:moveTo>
                  <a:pt x="0" y="0"/>
                </a:moveTo>
                <a:lnTo>
                  <a:pt x="1027224" y="0"/>
                </a:lnTo>
                <a:lnTo>
                  <a:pt x="1027224" y="1027224"/>
                </a:lnTo>
                <a:lnTo>
                  <a:pt x="0" y="10272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 descr="Signo de intercalación hacia arriba contorno"/>
          <p:cNvSpPr/>
          <p:nvPr/>
        </p:nvSpPr>
        <p:spPr>
          <a:xfrm>
            <a:off x="17182528" y="8857174"/>
            <a:ext cx="1027224" cy="1027224"/>
          </a:xfrm>
          <a:custGeom>
            <a:avLst/>
            <a:gdLst/>
            <a:ahLst/>
            <a:cxnLst/>
            <a:rect l="l" t="t" r="r" b="b"/>
            <a:pathLst>
              <a:path w="1027224" h="1027224">
                <a:moveTo>
                  <a:pt x="0" y="0"/>
                </a:moveTo>
                <a:lnTo>
                  <a:pt x="1027224" y="0"/>
                </a:lnTo>
                <a:lnTo>
                  <a:pt x="1027224" y="1027223"/>
                </a:lnTo>
                <a:lnTo>
                  <a:pt x="0" y="10272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 descr="Signo de intercalación hacia arriba contorno"/>
          <p:cNvSpPr/>
          <p:nvPr/>
        </p:nvSpPr>
        <p:spPr>
          <a:xfrm>
            <a:off x="17182528" y="9173651"/>
            <a:ext cx="1027224" cy="1027224"/>
          </a:xfrm>
          <a:custGeom>
            <a:avLst/>
            <a:gdLst/>
            <a:ahLst/>
            <a:cxnLst/>
            <a:rect l="l" t="t" r="r" b="b"/>
            <a:pathLst>
              <a:path w="1027224" h="1027224">
                <a:moveTo>
                  <a:pt x="0" y="0"/>
                </a:moveTo>
                <a:lnTo>
                  <a:pt x="1027224" y="0"/>
                </a:lnTo>
                <a:lnTo>
                  <a:pt x="1027224" y="1027224"/>
                </a:lnTo>
                <a:lnTo>
                  <a:pt x="0" y="10272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7330661" y="9876873"/>
            <a:ext cx="757333" cy="324040"/>
            <a:chOff x="0" y="0"/>
            <a:chExt cx="1009777" cy="43205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09777" cy="432054"/>
            </a:xfrm>
            <a:custGeom>
              <a:avLst/>
              <a:gdLst/>
              <a:ahLst/>
              <a:cxnLst/>
              <a:rect l="l" t="t" r="r" b="b"/>
              <a:pathLst>
                <a:path w="1009777" h="432054">
                  <a:moveTo>
                    <a:pt x="0" y="0"/>
                  </a:moveTo>
                  <a:lnTo>
                    <a:pt x="1009777" y="0"/>
                  </a:lnTo>
                  <a:lnTo>
                    <a:pt x="1009777" y="432054"/>
                  </a:lnTo>
                  <a:lnTo>
                    <a:pt x="0" y="432054"/>
                  </a:lnTo>
                </a:path>
              </a:pathLst>
            </a:custGeom>
            <a:solidFill>
              <a:srgbClr val="888B8D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7330661" y="9869729"/>
            <a:ext cx="757323" cy="331146"/>
            <a:chOff x="0" y="0"/>
            <a:chExt cx="1009764" cy="44152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09764" cy="441528"/>
            </a:xfrm>
            <a:custGeom>
              <a:avLst/>
              <a:gdLst/>
              <a:ahLst/>
              <a:cxnLst/>
              <a:rect l="l" t="t" r="r" b="b"/>
              <a:pathLst>
                <a:path w="1009764" h="441528">
                  <a:moveTo>
                    <a:pt x="0" y="0"/>
                  </a:moveTo>
                  <a:lnTo>
                    <a:pt x="1009764" y="0"/>
                  </a:lnTo>
                  <a:lnTo>
                    <a:pt x="1009764" y="441528"/>
                  </a:lnTo>
                  <a:lnTo>
                    <a:pt x="0" y="441528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-6101" r="-6101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1009764" cy="4510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Trebuchet MS Bold"/>
                </a:rPr>
                <a:t>‹Nº›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935696" y="238849"/>
            <a:ext cx="2152269" cy="618363"/>
            <a:chOff x="0" y="0"/>
            <a:chExt cx="2869692" cy="824484"/>
          </a:xfrm>
        </p:grpSpPr>
        <p:sp>
          <p:nvSpPr>
            <p:cNvPr id="22" name="Freeform 22" descr="Image result for los pelambres logo"/>
            <p:cNvSpPr/>
            <p:nvPr/>
          </p:nvSpPr>
          <p:spPr>
            <a:xfrm>
              <a:off x="0" y="0"/>
              <a:ext cx="2869692" cy="824484"/>
            </a:xfrm>
            <a:custGeom>
              <a:avLst/>
              <a:gdLst/>
              <a:ahLst/>
              <a:cxnLst/>
              <a:rect l="l" t="t" r="r" b="b"/>
              <a:pathLst>
                <a:path w="2869692" h="824484">
                  <a:moveTo>
                    <a:pt x="0" y="0"/>
                  </a:moveTo>
                  <a:lnTo>
                    <a:pt x="2869692" y="0"/>
                  </a:lnTo>
                  <a:lnTo>
                    <a:pt x="2869692" y="824484"/>
                  </a:lnTo>
                  <a:lnTo>
                    <a:pt x="0" y="8244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80659" b="-80659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 rot="3240">
            <a:off x="238039" y="1308640"/>
            <a:ext cx="15229961" cy="9525"/>
            <a:chOff x="0" y="0"/>
            <a:chExt cx="20306614" cy="127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306664" cy="12700"/>
            </a:xfrm>
            <a:custGeom>
              <a:avLst/>
              <a:gdLst/>
              <a:ahLst/>
              <a:cxnLst/>
              <a:rect l="l" t="t" r="r" b="b"/>
              <a:pathLst>
                <a:path w="20306664" h="12700">
                  <a:moveTo>
                    <a:pt x="6350" y="0"/>
                  </a:moveTo>
                  <a:lnTo>
                    <a:pt x="20300314" y="0"/>
                  </a:lnTo>
                  <a:cubicBezTo>
                    <a:pt x="20303871" y="0"/>
                    <a:pt x="20306664" y="2794"/>
                    <a:pt x="20306664" y="6350"/>
                  </a:cubicBezTo>
                  <a:cubicBezTo>
                    <a:pt x="20306664" y="9906"/>
                    <a:pt x="20303871" y="12700"/>
                    <a:pt x="20300314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00778B"/>
            </a:solidFill>
          </p:spPr>
        </p:sp>
      </p:grpSp>
      <p:grpSp>
        <p:nvGrpSpPr>
          <p:cNvPr id="25" name="Group 25"/>
          <p:cNvGrpSpPr/>
          <p:nvPr/>
        </p:nvGrpSpPr>
        <p:grpSpPr>
          <a:xfrm rot="121260">
            <a:off x="17880701" y="1299562"/>
            <a:ext cx="414576" cy="9525"/>
            <a:chOff x="0" y="0"/>
            <a:chExt cx="552768" cy="127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52831" cy="12700"/>
            </a:xfrm>
            <a:custGeom>
              <a:avLst/>
              <a:gdLst/>
              <a:ahLst/>
              <a:cxnLst/>
              <a:rect l="l" t="t" r="r" b="b"/>
              <a:pathLst>
                <a:path w="552831" h="12700">
                  <a:moveTo>
                    <a:pt x="6350" y="0"/>
                  </a:moveTo>
                  <a:lnTo>
                    <a:pt x="546481" y="0"/>
                  </a:lnTo>
                  <a:cubicBezTo>
                    <a:pt x="550037" y="0"/>
                    <a:pt x="552831" y="2794"/>
                    <a:pt x="552831" y="6350"/>
                  </a:cubicBezTo>
                  <a:cubicBezTo>
                    <a:pt x="552831" y="9906"/>
                    <a:pt x="550037" y="12700"/>
                    <a:pt x="54648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00778B"/>
            </a:solidFill>
          </p:spPr>
        </p:sp>
      </p:grpSp>
      <p:sp>
        <p:nvSpPr>
          <p:cNvPr id="27" name="Freeform 27"/>
          <p:cNvSpPr/>
          <p:nvPr/>
        </p:nvSpPr>
        <p:spPr>
          <a:xfrm>
            <a:off x="13285803" y="1538830"/>
            <a:ext cx="4161663" cy="7719470"/>
          </a:xfrm>
          <a:custGeom>
            <a:avLst/>
            <a:gdLst/>
            <a:ahLst/>
            <a:cxnLst/>
            <a:rect l="l" t="t" r="r" b="b"/>
            <a:pathLst>
              <a:path w="4161663" h="7719470">
                <a:moveTo>
                  <a:pt x="0" y="0"/>
                </a:moveTo>
                <a:lnTo>
                  <a:pt x="4161663" y="0"/>
                </a:lnTo>
                <a:lnTo>
                  <a:pt x="4161663" y="7719470"/>
                </a:lnTo>
                <a:lnTo>
                  <a:pt x="0" y="771947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17318974" y="9200245"/>
            <a:ext cx="722662" cy="653796"/>
            <a:chOff x="0" y="0"/>
            <a:chExt cx="963549" cy="87172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63549" cy="871728"/>
            </a:xfrm>
            <a:custGeom>
              <a:avLst/>
              <a:gdLst/>
              <a:ahLst/>
              <a:cxnLst/>
              <a:rect l="l" t="t" r="r" b="b"/>
              <a:pathLst>
                <a:path w="963549" h="871728">
                  <a:moveTo>
                    <a:pt x="0" y="0"/>
                  </a:moveTo>
                  <a:lnTo>
                    <a:pt x="963549" y="0"/>
                  </a:lnTo>
                  <a:lnTo>
                    <a:pt x="963549" y="871728"/>
                  </a:lnTo>
                  <a:lnTo>
                    <a:pt x="0" y="871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91913" r="-91915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17423997" y="1138238"/>
            <a:ext cx="864013" cy="54007"/>
            <a:chOff x="0" y="0"/>
            <a:chExt cx="1152017" cy="7200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52017" cy="72009"/>
            </a:xfrm>
            <a:custGeom>
              <a:avLst/>
              <a:gdLst/>
              <a:ahLst/>
              <a:cxnLst/>
              <a:rect l="l" t="t" r="r" b="b"/>
              <a:pathLst>
                <a:path w="1152017" h="72009">
                  <a:moveTo>
                    <a:pt x="0" y="0"/>
                  </a:moveTo>
                  <a:lnTo>
                    <a:pt x="1152017" y="0"/>
                  </a:lnTo>
                  <a:lnTo>
                    <a:pt x="1152017" y="72009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007A94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7423997" y="1223962"/>
            <a:ext cx="864013" cy="54007"/>
            <a:chOff x="0" y="0"/>
            <a:chExt cx="1152017" cy="7200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52017" cy="72009"/>
            </a:xfrm>
            <a:custGeom>
              <a:avLst/>
              <a:gdLst/>
              <a:ahLst/>
              <a:cxnLst/>
              <a:rect l="l" t="t" r="r" b="b"/>
              <a:pathLst>
                <a:path w="1152017" h="72009">
                  <a:moveTo>
                    <a:pt x="0" y="0"/>
                  </a:moveTo>
                  <a:lnTo>
                    <a:pt x="1152017" y="0"/>
                  </a:lnTo>
                  <a:lnTo>
                    <a:pt x="1152017" y="72009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62CDCA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7423997" y="1309688"/>
            <a:ext cx="864013" cy="54007"/>
            <a:chOff x="0" y="0"/>
            <a:chExt cx="1152017" cy="7200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52017" cy="72009"/>
            </a:xfrm>
            <a:custGeom>
              <a:avLst/>
              <a:gdLst/>
              <a:ahLst/>
              <a:cxnLst/>
              <a:rect l="l" t="t" r="r" b="b"/>
              <a:pathLst>
                <a:path w="1152017" h="72009">
                  <a:moveTo>
                    <a:pt x="0" y="0"/>
                  </a:moveTo>
                  <a:lnTo>
                    <a:pt x="1152017" y="0"/>
                  </a:lnTo>
                  <a:lnTo>
                    <a:pt x="1152017" y="72009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D42029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7423997" y="1395412"/>
            <a:ext cx="864013" cy="54007"/>
            <a:chOff x="0" y="0"/>
            <a:chExt cx="1152017" cy="7200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52017" cy="72009"/>
            </a:xfrm>
            <a:custGeom>
              <a:avLst/>
              <a:gdLst/>
              <a:ahLst/>
              <a:cxnLst/>
              <a:rect l="l" t="t" r="r" b="b"/>
              <a:pathLst>
                <a:path w="1152017" h="72009">
                  <a:moveTo>
                    <a:pt x="0" y="0"/>
                  </a:moveTo>
                  <a:lnTo>
                    <a:pt x="1152017" y="0"/>
                  </a:lnTo>
                  <a:lnTo>
                    <a:pt x="1152017" y="72009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EDAB00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338328" y="1181"/>
            <a:ext cx="15584157" cy="1000725"/>
            <a:chOff x="0" y="0"/>
            <a:chExt cx="20778876" cy="13343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0778851" cy="1334262"/>
            </a:xfrm>
            <a:custGeom>
              <a:avLst/>
              <a:gdLst/>
              <a:ahLst/>
              <a:cxnLst/>
              <a:rect l="l" t="t" r="r" b="b"/>
              <a:pathLst>
                <a:path w="20778851" h="1334262">
                  <a:moveTo>
                    <a:pt x="0" y="0"/>
                  </a:moveTo>
                  <a:lnTo>
                    <a:pt x="20778851" y="0"/>
                  </a:lnTo>
                  <a:lnTo>
                    <a:pt x="20778851" y="1334262"/>
                  </a:lnTo>
                  <a:lnTo>
                    <a:pt x="0" y="1334262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t="-40103" b="-40105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338328" y="-55969"/>
            <a:ext cx="15584157" cy="1057874"/>
            <a:chOff x="0" y="0"/>
            <a:chExt cx="20778876" cy="141049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0778876" cy="1410497"/>
            </a:xfrm>
            <a:custGeom>
              <a:avLst/>
              <a:gdLst/>
              <a:ahLst/>
              <a:cxnLst/>
              <a:rect l="l" t="t" r="r" b="b"/>
              <a:pathLst>
                <a:path w="20778876" h="1410497">
                  <a:moveTo>
                    <a:pt x="0" y="0"/>
                  </a:moveTo>
                  <a:lnTo>
                    <a:pt x="20778876" y="0"/>
                  </a:lnTo>
                  <a:lnTo>
                    <a:pt x="20778876" y="1410497"/>
                  </a:lnTo>
                  <a:lnTo>
                    <a:pt x="0" y="1410497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t="-237045" b="-237045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20778876" cy="14390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444647"/>
                  </a:solidFill>
                  <a:latin typeface="Calibri"/>
                  <a:ea typeface="Calibri"/>
                  <a:cs typeface="Calibri"/>
                  <a:sym typeface="Arimo Bold"/>
                </a:rPr>
                <a:t>Estándar de Revisión de BGFC</a:t>
              </a:r>
            </a:p>
          </p:txBody>
        </p:sp>
      </p:grpSp>
      <p:sp>
        <p:nvSpPr>
          <p:cNvPr id="43" name="Freeform 43"/>
          <p:cNvSpPr/>
          <p:nvPr/>
        </p:nvSpPr>
        <p:spPr>
          <a:xfrm>
            <a:off x="78248" y="1499949"/>
            <a:ext cx="4161663" cy="8469678"/>
          </a:xfrm>
          <a:custGeom>
            <a:avLst/>
            <a:gdLst/>
            <a:ahLst/>
            <a:cxnLst/>
            <a:rect l="l" t="t" r="r" b="b"/>
            <a:pathLst>
              <a:path w="4161663" h="8469678">
                <a:moveTo>
                  <a:pt x="0" y="0"/>
                </a:moveTo>
                <a:lnTo>
                  <a:pt x="4161663" y="0"/>
                </a:lnTo>
                <a:lnTo>
                  <a:pt x="4161663" y="8469678"/>
                </a:lnTo>
                <a:lnTo>
                  <a:pt x="0" y="846967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338328" y="1658655"/>
            <a:ext cx="3661305" cy="423672"/>
            <a:chOff x="0" y="0"/>
            <a:chExt cx="4881740" cy="56489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881753" cy="564896"/>
            </a:xfrm>
            <a:custGeom>
              <a:avLst/>
              <a:gdLst/>
              <a:ahLst/>
              <a:cxnLst/>
              <a:rect l="l" t="t" r="r" b="b"/>
              <a:pathLst>
                <a:path w="4881753" h="564896">
                  <a:moveTo>
                    <a:pt x="0" y="0"/>
                  </a:moveTo>
                  <a:lnTo>
                    <a:pt x="4881753" y="0"/>
                  </a:lnTo>
                  <a:lnTo>
                    <a:pt x="4881753" y="564896"/>
                  </a:lnTo>
                  <a:lnTo>
                    <a:pt x="0" y="564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389439" y="5654716"/>
            <a:ext cx="3610194" cy="417757"/>
            <a:chOff x="0" y="0"/>
            <a:chExt cx="4813592" cy="55700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813554" cy="557022"/>
            </a:xfrm>
            <a:custGeom>
              <a:avLst/>
              <a:gdLst/>
              <a:ahLst/>
              <a:cxnLst/>
              <a:rect l="l" t="t" r="r" b="b"/>
              <a:pathLst>
                <a:path w="4813554" h="557022">
                  <a:moveTo>
                    <a:pt x="0" y="0"/>
                  </a:moveTo>
                  <a:lnTo>
                    <a:pt x="4813554" y="0"/>
                  </a:lnTo>
                  <a:lnTo>
                    <a:pt x="4813554" y="557022"/>
                  </a:lnTo>
                  <a:lnTo>
                    <a:pt x="0" y="5570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b="2"/>
              </a:stretch>
            </a:blipFill>
          </p:spPr>
        </p:sp>
      </p:grpSp>
      <p:sp>
        <p:nvSpPr>
          <p:cNvPr id="48" name="Freeform 48"/>
          <p:cNvSpPr/>
          <p:nvPr/>
        </p:nvSpPr>
        <p:spPr>
          <a:xfrm>
            <a:off x="4505277" y="1499949"/>
            <a:ext cx="4161663" cy="8469678"/>
          </a:xfrm>
          <a:custGeom>
            <a:avLst/>
            <a:gdLst/>
            <a:ahLst/>
            <a:cxnLst/>
            <a:rect l="l" t="t" r="r" b="b"/>
            <a:pathLst>
              <a:path w="4161663" h="8469678">
                <a:moveTo>
                  <a:pt x="0" y="0"/>
                </a:moveTo>
                <a:lnTo>
                  <a:pt x="4161663" y="0"/>
                </a:lnTo>
                <a:lnTo>
                  <a:pt x="4161663" y="8469678"/>
                </a:lnTo>
                <a:lnTo>
                  <a:pt x="0" y="846967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338328" y="1604143"/>
            <a:ext cx="2801388" cy="35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6678" lvl="2" indent="-155559" algn="ctr">
              <a:lnSpc>
                <a:spcPts val="2958"/>
              </a:lnSpc>
              <a:buAutoNum type="arabicPeriod"/>
            </a:pPr>
            <a:r>
              <a:rPr lang="en-US" sz="204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 (MS)"/>
              </a:rPr>
              <a:t>Propósito y Riesgo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79358" y="5568991"/>
            <a:ext cx="2797912" cy="347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15"/>
              </a:lnSpc>
            </a:pPr>
            <a:r>
              <a:rPr lang="en-US" sz="201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 (MS)"/>
              </a:rPr>
              <a:t>2. Alcance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4755461" y="1658655"/>
            <a:ext cx="3661305" cy="423672"/>
            <a:chOff x="0" y="0"/>
            <a:chExt cx="4881740" cy="56489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881753" cy="564896"/>
            </a:xfrm>
            <a:custGeom>
              <a:avLst/>
              <a:gdLst/>
              <a:ahLst/>
              <a:cxnLst/>
              <a:rect l="l" t="t" r="r" b="b"/>
              <a:pathLst>
                <a:path w="4881753" h="564896">
                  <a:moveTo>
                    <a:pt x="0" y="0"/>
                  </a:moveTo>
                  <a:lnTo>
                    <a:pt x="4881753" y="0"/>
                  </a:lnTo>
                  <a:lnTo>
                    <a:pt x="4881753" y="564896"/>
                  </a:lnTo>
                  <a:lnTo>
                    <a:pt x="0" y="564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4819050" y="4656306"/>
            <a:ext cx="3661305" cy="423672"/>
            <a:chOff x="0" y="0"/>
            <a:chExt cx="4881740" cy="56489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881753" cy="564896"/>
            </a:xfrm>
            <a:custGeom>
              <a:avLst/>
              <a:gdLst/>
              <a:ahLst/>
              <a:cxnLst/>
              <a:rect l="l" t="t" r="r" b="b"/>
              <a:pathLst>
                <a:path w="4881753" h="564896">
                  <a:moveTo>
                    <a:pt x="0" y="0"/>
                  </a:moveTo>
                  <a:lnTo>
                    <a:pt x="4881753" y="0"/>
                  </a:lnTo>
                  <a:lnTo>
                    <a:pt x="4881753" y="564896"/>
                  </a:lnTo>
                  <a:lnTo>
                    <a:pt x="0" y="564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</p:grpSp>
      <p:grpSp>
        <p:nvGrpSpPr>
          <p:cNvPr id="55" name="Group 55"/>
          <p:cNvGrpSpPr/>
          <p:nvPr/>
        </p:nvGrpSpPr>
        <p:grpSpPr>
          <a:xfrm>
            <a:off x="5026819" y="2391318"/>
            <a:ext cx="228600" cy="228600"/>
            <a:chOff x="0" y="0"/>
            <a:chExt cx="304800" cy="3048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20">
                <a:alphaModFix amt="0"/>
              </a:blip>
              <a:stretch>
                <a:fillRect l="-78391" r="-78395"/>
              </a:stretch>
            </a:blipFill>
          </p:spPr>
        </p:sp>
      </p:grpSp>
      <p:grpSp>
        <p:nvGrpSpPr>
          <p:cNvPr id="57" name="Group 57"/>
          <p:cNvGrpSpPr/>
          <p:nvPr/>
        </p:nvGrpSpPr>
        <p:grpSpPr>
          <a:xfrm>
            <a:off x="5026819" y="2355599"/>
            <a:ext cx="228600" cy="264319"/>
            <a:chOff x="0" y="0"/>
            <a:chExt cx="304800" cy="352425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04800" cy="352425"/>
            </a:xfrm>
            <a:custGeom>
              <a:avLst/>
              <a:gdLst/>
              <a:ahLst/>
              <a:cxnLst/>
              <a:rect l="l" t="t" r="r" b="b"/>
              <a:pathLst>
                <a:path w="304800" h="352425">
                  <a:moveTo>
                    <a:pt x="0" y="0"/>
                  </a:moveTo>
                  <a:lnTo>
                    <a:pt x="304800" y="0"/>
                  </a:lnTo>
                  <a:lnTo>
                    <a:pt x="304800" y="352425"/>
                  </a:lnTo>
                  <a:lnTo>
                    <a:pt x="0" y="352425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-98351" r="-98351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47625"/>
              <a:ext cx="304800" cy="400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98"/>
                </a:lnSpc>
              </a:pPr>
              <a:r>
                <a:rPr lang="en-US" sz="926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 (MS)"/>
                </a:rPr>
                <a:t>2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4610398" y="9913268"/>
            <a:ext cx="1875511" cy="136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Trebuchet MS"/>
              </a:rPr>
              <a:t>20170424 - Capacitación Usuarios v6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4039498" y="9913268"/>
            <a:ext cx="199577" cy="136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DFF4F4"/>
                </a:solidFill>
                <a:latin typeface="Calibri"/>
                <a:ea typeface="Calibri"/>
                <a:cs typeface="Calibri"/>
                <a:sym typeface="Trebuchet MS"/>
              </a:rPr>
              <a:t>SAO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942665" y="4561075"/>
            <a:ext cx="3046466" cy="35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8"/>
              </a:lnSpc>
            </a:pPr>
            <a:r>
              <a:rPr lang="en-US" sz="204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 (MS)"/>
              </a:rPr>
              <a:t>4. Flujo macro del estándar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665950" y="1619669"/>
            <a:ext cx="2754468" cy="35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203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 (MS)"/>
              </a:rPr>
              <a:t>3.Resultado esperado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0313888" y="472968"/>
            <a:ext cx="4859718" cy="714195"/>
            <a:chOff x="0" y="0"/>
            <a:chExt cx="6479624" cy="95226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479726" cy="952238"/>
            </a:xfrm>
            <a:custGeom>
              <a:avLst/>
              <a:gdLst/>
              <a:ahLst/>
              <a:cxnLst/>
              <a:rect l="l" t="t" r="r" b="b"/>
              <a:pathLst>
                <a:path w="6479726" h="952238">
                  <a:moveTo>
                    <a:pt x="361819" y="0"/>
                  </a:moveTo>
                  <a:lnTo>
                    <a:pt x="6117935" y="0"/>
                  </a:lnTo>
                  <a:cubicBezTo>
                    <a:pt x="6317760" y="0"/>
                    <a:pt x="6479726" y="213216"/>
                    <a:pt x="6479726" y="476226"/>
                  </a:cubicBezTo>
                  <a:cubicBezTo>
                    <a:pt x="6479726" y="602410"/>
                    <a:pt x="6441599" y="723701"/>
                    <a:pt x="6373859" y="812860"/>
                  </a:cubicBezTo>
                  <a:cubicBezTo>
                    <a:pt x="6306120" y="902020"/>
                    <a:pt x="6213967" y="952238"/>
                    <a:pt x="6118097" y="952238"/>
                  </a:cubicBezTo>
                  <a:lnTo>
                    <a:pt x="361819" y="952238"/>
                  </a:lnTo>
                  <a:cubicBezTo>
                    <a:pt x="161994" y="952238"/>
                    <a:pt x="0" y="739022"/>
                    <a:pt x="0" y="476226"/>
                  </a:cubicBezTo>
                  <a:cubicBezTo>
                    <a:pt x="0" y="213429"/>
                    <a:pt x="161994" y="0"/>
                    <a:pt x="361819" y="0"/>
                  </a:cubicBezTo>
                  <a:close/>
                </a:path>
              </a:pathLst>
            </a:custGeom>
            <a:solidFill>
              <a:srgbClr val="EDAB00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0458417" y="634063"/>
            <a:ext cx="148361" cy="167383"/>
            <a:chOff x="0" y="0"/>
            <a:chExt cx="197815" cy="223177"/>
          </a:xfrm>
        </p:grpSpPr>
        <p:sp>
          <p:nvSpPr>
            <p:cNvPr id="67" name="Freeform 67" descr="preencoded.png"/>
            <p:cNvSpPr/>
            <p:nvPr/>
          </p:nvSpPr>
          <p:spPr>
            <a:xfrm>
              <a:off x="0" y="0"/>
              <a:ext cx="197866" cy="223139"/>
            </a:xfrm>
            <a:custGeom>
              <a:avLst/>
              <a:gdLst/>
              <a:ahLst/>
              <a:cxnLst/>
              <a:rect l="l" t="t" r="r" b="b"/>
              <a:pathLst>
                <a:path w="197866" h="223139">
                  <a:moveTo>
                    <a:pt x="0" y="0"/>
                  </a:moveTo>
                  <a:lnTo>
                    <a:pt x="197866" y="0"/>
                  </a:lnTo>
                  <a:lnTo>
                    <a:pt x="197866" y="223139"/>
                  </a:lnTo>
                  <a:lnTo>
                    <a:pt x="0" y="223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t="-5395" r="25" b="-5418"/>
              </a:stretch>
            </a:blipFill>
          </p:spPr>
        </p:sp>
      </p:grpSp>
      <p:sp>
        <p:nvSpPr>
          <p:cNvPr id="68" name="TextBox 68"/>
          <p:cNvSpPr txBox="1"/>
          <p:nvPr/>
        </p:nvSpPr>
        <p:spPr>
          <a:xfrm>
            <a:off x="10693099" y="517042"/>
            <a:ext cx="4316167" cy="47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9"/>
              </a:lnSpc>
            </a:pPr>
            <a:r>
              <a:rPr lang="en-US" sz="1449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 (MS) Bold"/>
              </a:rPr>
              <a:t>Disparador: Revisión preventiva de boletas de garantía asociadas a EDP previo a la autorización de pago.</a:t>
            </a:r>
          </a:p>
        </p:txBody>
      </p:sp>
      <p:sp>
        <p:nvSpPr>
          <p:cNvPr id="69" name="Freeform 69"/>
          <p:cNvSpPr/>
          <p:nvPr/>
        </p:nvSpPr>
        <p:spPr>
          <a:xfrm>
            <a:off x="8895540" y="1499949"/>
            <a:ext cx="4123799" cy="8354092"/>
          </a:xfrm>
          <a:custGeom>
            <a:avLst/>
            <a:gdLst/>
            <a:ahLst/>
            <a:cxnLst/>
            <a:rect l="l" t="t" r="r" b="b"/>
            <a:pathLst>
              <a:path w="4123799" h="8354092">
                <a:moveTo>
                  <a:pt x="0" y="0"/>
                </a:moveTo>
                <a:lnTo>
                  <a:pt x="4123800" y="0"/>
                </a:lnTo>
                <a:lnTo>
                  <a:pt x="4123800" y="8354092"/>
                </a:lnTo>
                <a:lnTo>
                  <a:pt x="0" y="835409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grpSp>
        <p:nvGrpSpPr>
          <p:cNvPr id="70" name="Group 70"/>
          <p:cNvGrpSpPr/>
          <p:nvPr/>
        </p:nvGrpSpPr>
        <p:grpSpPr>
          <a:xfrm>
            <a:off x="9137180" y="1689868"/>
            <a:ext cx="3661305" cy="423672"/>
            <a:chOff x="0" y="0"/>
            <a:chExt cx="4881740" cy="56489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4881753" cy="564896"/>
            </a:xfrm>
            <a:custGeom>
              <a:avLst/>
              <a:gdLst/>
              <a:ahLst/>
              <a:cxnLst/>
              <a:rect l="l" t="t" r="r" b="b"/>
              <a:pathLst>
                <a:path w="4881753" h="564896">
                  <a:moveTo>
                    <a:pt x="0" y="0"/>
                  </a:moveTo>
                  <a:lnTo>
                    <a:pt x="4881753" y="0"/>
                  </a:lnTo>
                  <a:lnTo>
                    <a:pt x="4881753" y="564896"/>
                  </a:lnTo>
                  <a:lnTo>
                    <a:pt x="0" y="564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</p:grpSp>
      <p:sp>
        <p:nvSpPr>
          <p:cNvPr id="72" name="TextBox 72"/>
          <p:cNvSpPr txBox="1"/>
          <p:nvPr/>
        </p:nvSpPr>
        <p:spPr>
          <a:xfrm>
            <a:off x="9232730" y="1619669"/>
            <a:ext cx="2959798" cy="35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203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 (MS)"/>
              </a:rPr>
              <a:t>5. Roles y responsabilidades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9144000" y="3427442"/>
            <a:ext cx="3661305" cy="423672"/>
            <a:chOff x="0" y="0"/>
            <a:chExt cx="4881740" cy="56489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4881753" cy="564896"/>
            </a:xfrm>
            <a:custGeom>
              <a:avLst/>
              <a:gdLst/>
              <a:ahLst/>
              <a:cxnLst/>
              <a:rect l="l" t="t" r="r" b="b"/>
              <a:pathLst>
                <a:path w="4881753" h="564896">
                  <a:moveTo>
                    <a:pt x="0" y="0"/>
                  </a:moveTo>
                  <a:lnTo>
                    <a:pt x="4881753" y="0"/>
                  </a:lnTo>
                  <a:lnTo>
                    <a:pt x="4881753" y="564896"/>
                  </a:lnTo>
                  <a:lnTo>
                    <a:pt x="0" y="564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</p:grpSp>
      <p:sp>
        <p:nvSpPr>
          <p:cNvPr id="75" name="TextBox 75"/>
          <p:cNvSpPr txBox="1"/>
          <p:nvPr/>
        </p:nvSpPr>
        <p:spPr>
          <a:xfrm>
            <a:off x="9215790" y="3354216"/>
            <a:ext cx="3092272" cy="35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203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 (MS)"/>
              </a:rPr>
              <a:t>6.Puntos de control mínimos</a:t>
            </a:r>
          </a:p>
        </p:txBody>
      </p:sp>
      <p:grpSp>
        <p:nvGrpSpPr>
          <p:cNvPr id="76" name="Group 76"/>
          <p:cNvGrpSpPr/>
          <p:nvPr/>
        </p:nvGrpSpPr>
        <p:grpSpPr>
          <a:xfrm>
            <a:off x="9065363" y="6032687"/>
            <a:ext cx="3678384" cy="425653"/>
            <a:chOff x="0" y="0"/>
            <a:chExt cx="4904511" cy="567538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904486" cy="567563"/>
            </a:xfrm>
            <a:custGeom>
              <a:avLst/>
              <a:gdLst/>
              <a:ahLst/>
              <a:cxnLst/>
              <a:rect l="l" t="t" r="r" b="b"/>
              <a:pathLst>
                <a:path w="4904486" h="567563">
                  <a:moveTo>
                    <a:pt x="0" y="0"/>
                  </a:moveTo>
                  <a:lnTo>
                    <a:pt x="4904486" y="0"/>
                  </a:lnTo>
                  <a:lnTo>
                    <a:pt x="4904486" y="567563"/>
                  </a:lnTo>
                  <a:lnTo>
                    <a:pt x="0" y="567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b="4"/>
              </a:stretch>
            </a:blipFill>
          </p:spPr>
        </p:sp>
      </p:grpSp>
      <p:sp>
        <p:nvSpPr>
          <p:cNvPr id="78" name="TextBox 78"/>
          <p:cNvSpPr txBox="1"/>
          <p:nvPr/>
        </p:nvSpPr>
        <p:spPr>
          <a:xfrm>
            <a:off x="9191865" y="5929151"/>
            <a:ext cx="2788472" cy="35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203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 (MS)"/>
              </a:rPr>
              <a:t>7. Entradas y salidas clave</a:t>
            </a:r>
          </a:p>
        </p:txBody>
      </p:sp>
      <p:grpSp>
        <p:nvGrpSpPr>
          <p:cNvPr id="79" name="Group 79"/>
          <p:cNvGrpSpPr/>
          <p:nvPr/>
        </p:nvGrpSpPr>
        <p:grpSpPr>
          <a:xfrm>
            <a:off x="13452415" y="3938376"/>
            <a:ext cx="3661305" cy="423672"/>
            <a:chOff x="0" y="0"/>
            <a:chExt cx="4881740" cy="564896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4881753" cy="564896"/>
            </a:xfrm>
            <a:custGeom>
              <a:avLst/>
              <a:gdLst/>
              <a:ahLst/>
              <a:cxnLst/>
              <a:rect l="l" t="t" r="r" b="b"/>
              <a:pathLst>
                <a:path w="4881753" h="564896">
                  <a:moveTo>
                    <a:pt x="0" y="0"/>
                  </a:moveTo>
                  <a:lnTo>
                    <a:pt x="4881753" y="0"/>
                  </a:lnTo>
                  <a:lnTo>
                    <a:pt x="4881753" y="564896"/>
                  </a:lnTo>
                  <a:lnTo>
                    <a:pt x="0" y="564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</p:grpSp>
      <p:grpSp>
        <p:nvGrpSpPr>
          <p:cNvPr id="81" name="Group 81"/>
          <p:cNvGrpSpPr/>
          <p:nvPr/>
        </p:nvGrpSpPr>
        <p:grpSpPr>
          <a:xfrm>
            <a:off x="13463740" y="6530691"/>
            <a:ext cx="3661305" cy="423672"/>
            <a:chOff x="0" y="0"/>
            <a:chExt cx="4881740" cy="56489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4881753" cy="564896"/>
            </a:xfrm>
            <a:custGeom>
              <a:avLst/>
              <a:gdLst/>
              <a:ahLst/>
              <a:cxnLst/>
              <a:rect l="l" t="t" r="r" b="b"/>
              <a:pathLst>
                <a:path w="4881753" h="564896">
                  <a:moveTo>
                    <a:pt x="0" y="0"/>
                  </a:moveTo>
                  <a:lnTo>
                    <a:pt x="4881753" y="0"/>
                  </a:lnTo>
                  <a:lnTo>
                    <a:pt x="4881753" y="564896"/>
                  </a:lnTo>
                  <a:lnTo>
                    <a:pt x="0" y="564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</p:grpSp>
      <p:grpSp>
        <p:nvGrpSpPr>
          <p:cNvPr id="83" name="Group 83"/>
          <p:cNvGrpSpPr/>
          <p:nvPr/>
        </p:nvGrpSpPr>
        <p:grpSpPr>
          <a:xfrm>
            <a:off x="13427316" y="1642805"/>
            <a:ext cx="3818915" cy="804615"/>
            <a:chOff x="0" y="0"/>
            <a:chExt cx="5091887" cy="107282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5091938" cy="1072769"/>
            </a:xfrm>
            <a:custGeom>
              <a:avLst/>
              <a:gdLst/>
              <a:ahLst/>
              <a:cxnLst/>
              <a:rect l="l" t="t" r="r" b="b"/>
              <a:pathLst>
                <a:path w="5091938" h="1072769">
                  <a:moveTo>
                    <a:pt x="0" y="0"/>
                  </a:moveTo>
                  <a:lnTo>
                    <a:pt x="5091938" y="0"/>
                  </a:lnTo>
                  <a:lnTo>
                    <a:pt x="5091938" y="1072769"/>
                  </a:lnTo>
                  <a:lnTo>
                    <a:pt x="0" y="1072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-41037" r="-41035" b="-4"/>
              </a:stretch>
            </a:blipFill>
          </p:spPr>
        </p:sp>
      </p:grpSp>
      <p:sp>
        <p:nvSpPr>
          <p:cNvPr id="85" name="TextBox 85"/>
          <p:cNvSpPr txBox="1"/>
          <p:nvPr/>
        </p:nvSpPr>
        <p:spPr>
          <a:xfrm>
            <a:off x="13537040" y="1587437"/>
            <a:ext cx="2908249" cy="742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8"/>
              </a:lnSpc>
            </a:pPr>
            <a:r>
              <a:rPr lang="en-US" sz="204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 (MS)"/>
              </a:rPr>
              <a:t>8. Indicador de cumplimiento del estándar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3214071" y="3863271"/>
            <a:ext cx="3590392" cy="35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8"/>
              </a:lnSpc>
            </a:pPr>
            <a:r>
              <a:rPr lang="en-US" sz="204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 (MS)"/>
              </a:rPr>
              <a:t>9. Gestión de excepciones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3342953" y="6476437"/>
            <a:ext cx="3661305" cy="35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203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 (MS)"/>
              </a:rPr>
              <a:t>10. Regla de no retroactividad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866994" y="6005017"/>
            <a:ext cx="215798" cy="367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4"/>
              </a:lnSpc>
            </a:pPr>
            <a:r>
              <a:rPr lang="en-US" sz="2121">
                <a:solidFill>
                  <a:srgbClr val="00778B"/>
                </a:solidFill>
                <a:latin typeface="Calibri"/>
                <a:ea typeface="Calibri"/>
                <a:cs typeface="Calibri"/>
                <a:sym typeface="Calibri (MS)"/>
              </a:rPr>
              <a:t>✔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2805046" y="6005017"/>
            <a:ext cx="219970" cy="367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2"/>
              </a:lnSpc>
            </a:pPr>
            <a:r>
              <a:rPr lang="en-US" sz="2120" b="1">
                <a:solidFill>
                  <a:srgbClr val="00778B"/>
                </a:solidFill>
                <a:latin typeface="Calibri"/>
                <a:ea typeface="Calibri"/>
                <a:cs typeface="Calibri"/>
                <a:sym typeface="Calibri (MS) Bold"/>
              </a:rPr>
              <a:t>✖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95469" y="6452254"/>
            <a:ext cx="1757102" cy="3472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8284" lvl="1" indent="-124142" algn="just">
              <a:lnSpc>
                <a:spcPts val="1666"/>
              </a:lnSpc>
              <a:buFont typeface="Arial"/>
              <a:buChar char="•"/>
            </a:pPr>
            <a:r>
              <a:rPr lang="en-US" sz="114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Contratos de servicios con boleta de garantía de fiel cumplimiento.</a:t>
            </a:r>
          </a:p>
          <a:p>
            <a:pPr marL="248284" lvl="1" indent="-124142" algn="just">
              <a:lnSpc>
                <a:spcPts val="1666"/>
              </a:lnSpc>
              <a:buFont typeface="Arial"/>
              <a:buChar char="•"/>
            </a:pPr>
            <a:r>
              <a:rPr lang="en-US" sz="114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Revisión de boletas asociadas a Estados de Pago (EDP).</a:t>
            </a:r>
          </a:p>
          <a:p>
            <a:pPr marL="248284" lvl="1" indent="-124142" algn="just">
              <a:lnSpc>
                <a:spcPts val="1666"/>
              </a:lnSpc>
              <a:buFont typeface="Arial"/>
              <a:buChar char="•"/>
            </a:pPr>
            <a:r>
              <a:rPr lang="en-US" sz="114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Validación de vigencia, monto y cobertura de la boleta.</a:t>
            </a:r>
          </a:p>
          <a:p>
            <a:pPr marL="248284" lvl="1" indent="-124142" algn="just">
              <a:lnSpc>
                <a:spcPts val="1666"/>
              </a:lnSpc>
              <a:buFont typeface="Arial"/>
              <a:buChar char="•"/>
            </a:pPr>
            <a:r>
              <a:rPr lang="en-US" sz="114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Contratos con modificaciones contractuales o consumo del monto base.</a:t>
            </a:r>
          </a:p>
          <a:p>
            <a:pPr marL="248284" lvl="1" indent="-124142" algn="just">
              <a:lnSpc>
                <a:spcPts val="1666"/>
              </a:lnSpc>
              <a:buFont typeface="Arial"/>
              <a:buChar char="•"/>
            </a:pPr>
            <a:r>
              <a:rPr lang="en-US" sz="114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Contratos registrados en SAP y bases operativas de gestión contractual.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537174" y="5066738"/>
            <a:ext cx="4129766" cy="4857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13" lvl="1" indent="-142857" algn="l">
              <a:lnSpc>
                <a:spcPts val="1917"/>
              </a:lnSpc>
              <a:buAutoNum type="arabicPeriod"/>
            </a:pPr>
            <a:r>
              <a:rPr lang="en-US" sz="132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Descarga de información contractual y de boletas desde SAP.</a:t>
            </a:r>
          </a:p>
          <a:p>
            <a:pPr marL="285713" lvl="1" indent="-142857" algn="l">
              <a:lnSpc>
                <a:spcPts val="1917"/>
              </a:lnSpc>
              <a:buAutoNum type="arabicPeriod"/>
            </a:pPr>
            <a:r>
              <a:rPr lang="en-US" sz="132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Preparación de bases operativas:</a:t>
            </a:r>
          </a:p>
          <a:p>
            <a:pPr marL="285713" lvl="1" indent="-142857" algn="l">
              <a:lnSpc>
                <a:spcPts val="1917"/>
              </a:lnSpc>
              <a:buFont typeface="Arial"/>
              <a:buChar char="•"/>
            </a:pPr>
            <a:r>
              <a:rPr lang="en-US" sz="132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Inventario de contratos vigentes.</a:t>
            </a:r>
          </a:p>
          <a:p>
            <a:pPr marL="285713" lvl="1" indent="-142857" algn="l">
              <a:lnSpc>
                <a:spcPts val="1917"/>
              </a:lnSpc>
              <a:buFont typeface="Arial"/>
              <a:buChar char="•"/>
            </a:pPr>
            <a:r>
              <a:rPr lang="en-US" sz="132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Base consolidada de boletas de garantía.</a:t>
            </a:r>
          </a:p>
          <a:p>
            <a:pPr marL="285713" lvl="1" indent="-142857" algn="l">
              <a:lnSpc>
                <a:spcPts val="1917"/>
              </a:lnSpc>
              <a:buAutoNum type="arabicPeriod"/>
            </a:pPr>
            <a:r>
              <a:rPr lang="en-US" sz="132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Normalización de datos contractuales y montos.</a:t>
            </a:r>
          </a:p>
          <a:p>
            <a:pPr marL="285713" lvl="1" indent="-142857" algn="l">
              <a:lnSpc>
                <a:spcPts val="1917"/>
              </a:lnSpc>
              <a:buAutoNum type="arabicPeriod"/>
            </a:pPr>
            <a:r>
              <a:rPr lang="en-US" sz="132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Cruce de información entre contratos y boletas por número de contrato.</a:t>
            </a:r>
          </a:p>
          <a:p>
            <a:pPr marL="285713" lvl="1" indent="-142857" algn="l">
              <a:lnSpc>
                <a:spcPts val="1917"/>
              </a:lnSpc>
              <a:buAutoNum type="arabicPeriod"/>
            </a:pPr>
            <a:r>
              <a:rPr lang="en-US" sz="132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Validación de aplicabilidad de boleta según monto contractual y condiciones del contrato.</a:t>
            </a:r>
          </a:p>
          <a:p>
            <a:pPr marL="285713" lvl="1" indent="-142857" algn="l">
              <a:lnSpc>
                <a:spcPts val="1917"/>
              </a:lnSpc>
              <a:buAutoNum type="arabicPeriod"/>
            </a:pPr>
            <a:r>
              <a:rPr lang="en-US" sz="132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Revisión de vigencia de la boleta y cobertura del monto garantizado.</a:t>
            </a:r>
          </a:p>
          <a:p>
            <a:pPr marL="285713" lvl="1" indent="-142857" algn="l">
              <a:lnSpc>
                <a:spcPts val="1917"/>
              </a:lnSpc>
              <a:buAutoNum type="arabicPeriod"/>
            </a:pPr>
            <a:r>
              <a:rPr lang="en-US" sz="132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Identificación de casos especiales:</a:t>
            </a:r>
          </a:p>
          <a:p>
            <a:pPr marL="285713" lvl="1" indent="-142857" algn="l">
              <a:lnSpc>
                <a:spcPts val="1917"/>
              </a:lnSpc>
              <a:buFont typeface="Arial"/>
              <a:buChar char="•"/>
            </a:pPr>
            <a:r>
              <a:rPr lang="en-US" sz="132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Boleta vencida.</a:t>
            </a:r>
          </a:p>
          <a:p>
            <a:pPr marL="285713" lvl="1" indent="-142857" algn="l">
              <a:lnSpc>
                <a:spcPts val="1917"/>
              </a:lnSpc>
              <a:buFont typeface="Arial"/>
              <a:buChar char="•"/>
            </a:pPr>
            <a:r>
              <a:rPr lang="en-US" sz="132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Boleta con cobertura parcial.</a:t>
            </a:r>
          </a:p>
          <a:p>
            <a:pPr marL="285713" lvl="1" indent="-142857" algn="l">
              <a:lnSpc>
                <a:spcPts val="1917"/>
              </a:lnSpc>
              <a:buFont typeface="Arial"/>
              <a:buChar char="•"/>
            </a:pPr>
            <a:r>
              <a:rPr lang="en-US" sz="132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Contrato base consumido.</a:t>
            </a:r>
          </a:p>
          <a:p>
            <a:pPr marL="285713" lvl="1" indent="-142857" algn="l">
              <a:lnSpc>
                <a:spcPts val="1917"/>
              </a:lnSpc>
              <a:buFont typeface="Arial"/>
              <a:buChar char="•"/>
            </a:pPr>
            <a:r>
              <a:rPr lang="en-US" sz="132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Modificación contractual en curso.</a:t>
            </a:r>
          </a:p>
          <a:p>
            <a:pPr marL="285713" lvl="1" indent="-142857" algn="l">
              <a:lnSpc>
                <a:spcPts val="1917"/>
              </a:lnSpc>
              <a:buAutoNum type="arabicPeriod"/>
            </a:pPr>
            <a:r>
              <a:rPr lang="en-US" sz="132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Registro de observaciones y decisión operativa:</a:t>
            </a:r>
          </a:p>
          <a:p>
            <a:pPr marL="285713" lvl="1" indent="-142857" algn="l">
              <a:lnSpc>
                <a:spcPts val="1917"/>
              </a:lnSpc>
              <a:buFont typeface="Arial"/>
              <a:buChar char="•"/>
            </a:pPr>
            <a:r>
              <a:rPr lang="en-US" sz="132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Procede pago del EDP.</a:t>
            </a:r>
          </a:p>
          <a:p>
            <a:pPr marL="285713" lvl="1" indent="-142857" algn="l">
              <a:lnSpc>
                <a:spcPts val="1917"/>
              </a:lnSpc>
              <a:buFont typeface="Arial"/>
              <a:buChar char="•"/>
            </a:pPr>
            <a:r>
              <a:rPr lang="en-US" sz="132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Mantener EDP provisionado hasta regularización.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2329075" y="6452254"/>
            <a:ext cx="1757102" cy="260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8284" lvl="1" indent="-124142" algn="just">
              <a:lnSpc>
                <a:spcPts val="1666"/>
              </a:lnSpc>
              <a:buFont typeface="Arial"/>
              <a:buChar char="•"/>
            </a:pPr>
            <a:r>
              <a:rPr lang="en-US" sz="114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Contratos sin exigencia de boleta según condiciones contractuales.</a:t>
            </a:r>
          </a:p>
          <a:p>
            <a:pPr marL="248284" lvl="1" indent="-124142" algn="just">
              <a:lnSpc>
                <a:spcPts val="1666"/>
              </a:lnSpc>
              <a:buFont typeface="Arial"/>
              <a:buChar char="•"/>
            </a:pPr>
            <a:r>
              <a:rPr lang="en-US" sz="114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Casos regulados directamente por el Manual Corporativo de Compras y Contratos.</a:t>
            </a:r>
          </a:p>
          <a:p>
            <a:pPr marL="248284" lvl="1" indent="-124142" algn="just">
              <a:lnSpc>
                <a:spcPts val="1666"/>
              </a:lnSpc>
              <a:buFont typeface="Arial"/>
              <a:buChar char="•"/>
            </a:pPr>
            <a:r>
              <a:rPr lang="en-US" sz="114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Validación económica o negociación contractual (responsabilidad de Abastecimiento)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31947" y="2128959"/>
            <a:ext cx="4074066" cy="3677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72"/>
              </a:lnSpc>
            </a:pPr>
            <a:r>
              <a:rPr lang="en-US" sz="1223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 Bold"/>
              </a:rPr>
              <a:t>Propósito</a:t>
            </a:r>
          </a:p>
          <a:p>
            <a:pPr algn="just">
              <a:lnSpc>
                <a:spcPts val="1772"/>
              </a:lnSpc>
            </a:pPr>
            <a:r>
              <a:rPr lang="en-US" sz="122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Establecer un estándar para la revisión sistemática de boletas de garantía de fiel cumplimiento (BGFC) asociadas a contratos de servicios, permitiendo verificar su vigencia, cobertura y consistencia con las condiciones contractuales antes de autorizar el pago de Estados de Pago (EDP), resguardando el cumplimiento contractual y el control del riesgo financiero.</a:t>
            </a:r>
          </a:p>
          <a:p>
            <a:pPr algn="just">
              <a:lnSpc>
                <a:spcPts val="1772"/>
              </a:lnSpc>
            </a:pPr>
            <a:endParaRPr lang="en-US" sz="1223">
              <a:solidFill>
                <a:srgbClr val="000000"/>
              </a:solidFill>
              <a:latin typeface="Calibri"/>
              <a:ea typeface="Calibri"/>
              <a:cs typeface="Calibri"/>
              <a:sym typeface="Calibri (MS)"/>
            </a:endParaRPr>
          </a:p>
          <a:p>
            <a:pPr algn="just">
              <a:lnSpc>
                <a:spcPts val="1772"/>
              </a:lnSpc>
            </a:pPr>
            <a:r>
              <a:rPr lang="en-US" sz="1223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 Bold"/>
              </a:rPr>
              <a:t>Riesgo</a:t>
            </a:r>
          </a:p>
          <a:p>
            <a:pPr algn="just">
              <a:lnSpc>
                <a:spcPts val="1772"/>
              </a:lnSpc>
            </a:pPr>
            <a:r>
              <a:rPr lang="en-US" sz="122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La ausencia de una revisión estructurada de boletas de garantía puede permitir la autorización de pagos sin respaldo contractual suficiente, generando exposición a riesgos financieros, contractuales y de cumplimiento, especialmente en escenarios de boletas vencidas, montos insuficientes o contratos con modificaciones no regularizadas.</a:t>
            </a:r>
          </a:p>
          <a:p>
            <a:pPr algn="just">
              <a:lnSpc>
                <a:spcPts val="1772"/>
              </a:lnSpc>
            </a:pPr>
            <a:endParaRPr lang="en-US" sz="1223">
              <a:solidFill>
                <a:srgbClr val="000000"/>
              </a:solidFill>
              <a:latin typeface="Calibri"/>
              <a:ea typeface="Calibri"/>
              <a:cs typeface="Calibri"/>
              <a:sym typeface="Calibri (MS)"/>
            </a:endParaRPr>
          </a:p>
        </p:txBody>
      </p:sp>
      <p:sp>
        <p:nvSpPr>
          <p:cNvPr id="94" name="TextBox 94"/>
          <p:cNvSpPr txBox="1"/>
          <p:nvPr/>
        </p:nvSpPr>
        <p:spPr>
          <a:xfrm>
            <a:off x="4537174" y="2119434"/>
            <a:ext cx="4097879" cy="2663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83"/>
              </a:lnSpc>
            </a:pPr>
            <a:r>
              <a:rPr lang="en-US" sz="12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La aplicación del estándar permite asegurar que todo EdP evaluado cuente con una boleta de garantía vigente y consistente con el contrato, habilitando una revisión objetiva y trazable antes de la autorización de pago.</a:t>
            </a:r>
          </a:p>
          <a:p>
            <a:pPr algn="just">
              <a:lnSpc>
                <a:spcPts val="1883"/>
              </a:lnSpc>
            </a:pPr>
            <a:r>
              <a:rPr lang="en-US" sz="12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Este proceso permite identificar tempranamente descalces entre vigencia de la boleta, monto garantizado y avance contractual, asegurando una gestión preventiva del riesgo contractual y financiero, y generando insumos para el seguimiento de renovaciones o modificaciones contractuales necesarias.</a:t>
            </a:r>
          </a:p>
          <a:p>
            <a:pPr algn="just">
              <a:lnSpc>
                <a:spcPts val="1884"/>
              </a:lnSpc>
            </a:pPr>
            <a:endParaRPr lang="en-US" sz="1299">
              <a:solidFill>
                <a:srgbClr val="000000"/>
              </a:solidFill>
              <a:latin typeface="Calibri"/>
              <a:ea typeface="Calibri"/>
              <a:cs typeface="Calibri"/>
              <a:sym typeface="Calibri (MS)"/>
            </a:endParaRPr>
          </a:p>
        </p:txBody>
      </p:sp>
      <p:sp>
        <p:nvSpPr>
          <p:cNvPr id="95" name="TextBox 95"/>
          <p:cNvSpPr txBox="1"/>
          <p:nvPr/>
        </p:nvSpPr>
        <p:spPr>
          <a:xfrm>
            <a:off x="9003632" y="2151640"/>
            <a:ext cx="4097879" cy="1132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8892" lvl="1" indent="-164446" algn="l">
              <a:lnSpc>
                <a:spcPts val="2207"/>
              </a:lnSpc>
              <a:buFont typeface="Arial"/>
              <a:buChar char="•"/>
            </a:pPr>
            <a:r>
              <a:rPr lang="en-US" sz="152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BackOffice</a:t>
            </a:r>
          </a:p>
          <a:p>
            <a:pPr marL="328892" lvl="1" indent="-164446" algn="l">
              <a:lnSpc>
                <a:spcPts val="2207"/>
              </a:lnSpc>
              <a:buFont typeface="Arial"/>
              <a:buChar char="•"/>
            </a:pPr>
            <a:r>
              <a:rPr lang="en-US" sz="152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AdC</a:t>
            </a:r>
          </a:p>
          <a:p>
            <a:pPr marL="328892" lvl="1" indent="-164446" algn="l">
              <a:lnSpc>
                <a:spcPts val="2207"/>
              </a:lnSpc>
              <a:buFont typeface="Arial"/>
              <a:buChar char="•"/>
            </a:pPr>
            <a:r>
              <a:rPr lang="en-US" sz="152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Abastecimiento</a:t>
            </a:r>
          </a:p>
          <a:p>
            <a:pPr marL="328892" lvl="1" indent="-164446" algn="l">
              <a:lnSpc>
                <a:spcPts val="2207"/>
              </a:lnSpc>
              <a:buFont typeface="Arial"/>
              <a:buChar char="•"/>
            </a:pPr>
            <a:r>
              <a:rPr lang="en-US" sz="152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GAF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8933640" y="3903806"/>
            <a:ext cx="4117284" cy="216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7146" lvl="1" indent="-143573" algn="l">
              <a:lnSpc>
                <a:spcPts val="1927"/>
              </a:lnSpc>
              <a:buFont typeface="Arial"/>
              <a:buChar char="•"/>
            </a:pPr>
            <a:r>
              <a:rPr lang="en-US" sz="132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Descarga de reporte de garantías desde SAP (ZFI-151).</a:t>
            </a:r>
          </a:p>
          <a:p>
            <a:pPr marL="287146" lvl="1" indent="-143573" algn="l">
              <a:lnSpc>
                <a:spcPts val="1927"/>
              </a:lnSpc>
              <a:buFont typeface="Arial"/>
              <a:buChar char="•"/>
            </a:pPr>
            <a:r>
              <a:rPr lang="en-US" sz="132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Cruce entre inventario de contratos y base de boletas.</a:t>
            </a:r>
          </a:p>
          <a:p>
            <a:pPr marL="287146" lvl="1" indent="-143573" algn="l">
              <a:lnSpc>
                <a:spcPts val="1927"/>
              </a:lnSpc>
              <a:buFont typeface="Arial"/>
              <a:buChar char="•"/>
            </a:pPr>
            <a:r>
              <a:rPr lang="en-US" sz="132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Verificación del campo ¿Boleta Vigente?.</a:t>
            </a:r>
          </a:p>
          <a:p>
            <a:pPr marL="287146" lvl="1" indent="-143573" algn="l">
              <a:lnSpc>
                <a:spcPts val="1927"/>
              </a:lnSpc>
              <a:buFont typeface="Arial"/>
              <a:buChar char="•"/>
            </a:pPr>
            <a:r>
              <a:rPr lang="en-US" sz="132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Identificación de boletas próximas a vencer.</a:t>
            </a:r>
          </a:p>
          <a:p>
            <a:pPr marL="287146" lvl="1" indent="-143573" algn="l">
              <a:lnSpc>
                <a:spcPts val="1927"/>
              </a:lnSpc>
              <a:buFont typeface="Arial"/>
              <a:buChar char="•"/>
            </a:pPr>
            <a:r>
              <a:rPr lang="en-US" sz="132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Validación de cobertura del monto contractual.</a:t>
            </a:r>
          </a:p>
          <a:p>
            <a:pPr marL="287146" lvl="1" indent="-143573" algn="l">
              <a:lnSpc>
                <a:spcPts val="1927"/>
              </a:lnSpc>
              <a:buFont typeface="Arial"/>
              <a:buChar char="•"/>
            </a:pPr>
            <a:r>
              <a:rPr lang="en-US" sz="132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Revisión manual en SAP en casos sin cruce automático.</a:t>
            </a:r>
          </a:p>
          <a:p>
            <a:pPr marL="287146" lvl="1" indent="-143573" algn="l">
              <a:lnSpc>
                <a:spcPts val="1927"/>
              </a:lnSpc>
              <a:buFont typeface="Arial"/>
              <a:buChar char="•"/>
            </a:pPr>
            <a:r>
              <a:rPr lang="en-US" sz="132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Registro de casos especiales y observaciones contractuales.</a:t>
            </a:r>
          </a:p>
          <a:p>
            <a:pPr algn="l">
              <a:lnSpc>
                <a:spcPts val="1927"/>
              </a:lnSpc>
            </a:pPr>
            <a:endParaRPr lang="en-US" sz="1329">
              <a:solidFill>
                <a:srgbClr val="000000"/>
              </a:solidFill>
              <a:latin typeface="Calibri"/>
              <a:ea typeface="Calibri"/>
              <a:cs typeface="Calibri"/>
              <a:sym typeface="Calibri (MS)"/>
            </a:endParaRPr>
          </a:p>
        </p:txBody>
      </p:sp>
      <p:sp>
        <p:nvSpPr>
          <p:cNvPr id="97" name="TextBox 97"/>
          <p:cNvSpPr txBox="1"/>
          <p:nvPr/>
        </p:nvSpPr>
        <p:spPr>
          <a:xfrm>
            <a:off x="8990790" y="6553591"/>
            <a:ext cx="4060134" cy="3407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3"/>
              </a:lnSpc>
            </a:pPr>
            <a:r>
              <a:rPr lang="en-US" sz="1299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 Bold"/>
              </a:rPr>
              <a:t>Entradas</a:t>
            </a:r>
          </a:p>
          <a:p>
            <a:pPr marL="280669" lvl="1" indent="-140335" algn="l">
              <a:lnSpc>
                <a:spcPts val="1883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Inventario de contratos vigentes.</a:t>
            </a:r>
          </a:p>
          <a:p>
            <a:pPr marL="302259" lvl="1" indent="-151129" algn="l">
              <a:lnSpc>
                <a:spcPts val="2028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Base de boletas de garantía.</a:t>
            </a:r>
          </a:p>
          <a:p>
            <a:pPr marL="280669" lvl="1" indent="-140335" algn="l">
              <a:lnSpc>
                <a:spcPts val="1883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SAP – Transacción ZFI-151 Gestión de Garantías.</a:t>
            </a:r>
          </a:p>
          <a:p>
            <a:pPr marL="280669" lvl="1" indent="-140335" algn="l">
              <a:lnSpc>
                <a:spcPts val="1883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Documentación contractual (contrato base, modificaciones y anexos).</a:t>
            </a:r>
          </a:p>
          <a:p>
            <a:pPr algn="l">
              <a:lnSpc>
                <a:spcPts val="1883"/>
              </a:lnSpc>
            </a:pPr>
            <a:r>
              <a:rPr lang="en-US" sz="1299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 Bold"/>
              </a:rPr>
              <a:t>Salidas</a:t>
            </a:r>
          </a:p>
          <a:p>
            <a:pPr marL="280669" lvl="1" indent="-140335" algn="l">
              <a:lnSpc>
                <a:spcPts val="1883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Registro actualizado de revisión de boletas.</a:t>
            </a:r>
          </a:p>
          <a:p>
            <a:pPr marL="280669" lvl="1" indent="-140335" algn="l">
              <a:lnSpc>
                <a:spcPts val="1883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Identificación de contratos con boletas vencidas o insuficientes.</a:t>
            </a:r>
          </a:p>
          <a:p>
            <a:pPr marL="280669" lvl="1" indent="-140335" algn="l">
              <a:lnSpc>
                <a:spcPts val="1883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Observaciones para renovación o regularización contractual.</a:t>
            </a:r>
          </a:p>
          <a:p>
            <a:pPr marL="280669" lvl="1" indent="-140335" algn="l">
              <a:lnSpc>
                <a:spcPts val="1883"/>
              </a:lnSpc>
              <a:buFont typeface="Arial"/>
              <a:buChar char="•"/>
            </a:pPr>
            <a:r>
              <a:rPr lang="en-US" sz="12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Decisión operativa respecto al pago o provisión del EDP. </a:t>
            </a:r>
          </a:p>
          <a:p>
            <a:pPr algn="just">
              <a:lnSpc>
                <a:spcPts val="1917"/>
              </a:lnSpc>
            </a:pPr>
            <a:endParaRPr lang="en-US" sz="1299">
              <a:solidFill>
                <a:srgbClr val="000000"/>
              </a:solidFill>
              <a:latin typeface="Calibri"/>
              <a:ea typeface="Calibri"/>
              <a:cs typeface="Calibri"/>
              <a:sym typeface="Calibri (MS)"/>
            </a:endParaRPr>
          </a:p>
        </p:txBody>
      </p:sp>
      <p:sp>
        <p:nvSpPr>
          <p:cNvPr id="98" name="TextBox 98"/>
          <p:cNvSpPr txBox="1"/>
          <p:nvPr/>
        </p:nvSpPr>
        <p:spPr>
          <a:xfrm>
            <a:off x="13304279" y="2421084"/>
            <a:ext cx="4124711" cy="145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9305" lvl="1" indent="-144652" algn="l">
              <a:lnSpc>
                <a:spcPts val="1941"/>
              </a:lnSpc>
              <a:spcBef>
                <a:spcPct val="0"/>
              </a:spcBef>
              <a:buFont typeface="Arial"/>
              <a:buChar char="•"/>
            </a:pPr>
            <a:r>
              <a:rPr lang="en-US" sz="133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% de EDP revisados con validación de boleta de garantía previa al pago.</a:t>
            </a:r>
          </a:p>
          <a:p>
            <a:pPr marL="289305" lvl="1" indent="-144652" algn="l">
              <a:lnSpc>
                <a:spcPts val="1942"/>
              </a:lnSpc>
              <a:spcBef>
                <a:spcPct val="0"/>
              </a:spcBef>
              <a:buFont typeface="Arial"/>
              <a:buChar char="•"/>
            </a:pPr>
            <a:r>
              <a:rPr lang="en-US" sz="133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% de boletas vencidas identificadas antes de autorización de pago.</a:t>
            </a:r>
          </a:p>
          <a:p>
            <a:pPr marL="289305" lvl="1" indent="-144652" algn="l">
              <a:lnSpc>
                <a:spcPts val="1941"/>
              </a:lnSpc>
              <a:spcBef>
                <a:spcPct val="0"/>
              </a:spcBef>
              <a:buFont typeface="Arial"/>
              <a:buChar char="•"/>
            </a:pPr>
            <a:r>
              <a:rPr lang="en-US" sz="133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% de contratos con observaciones gestionadas oportunamente.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3346199" y="4438248"/>
            <a:ext cx="4101267" cy="2079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61" lvl="1" indent="-151130" algn="l">
              <a:lnSpc>
                <a:spcPts val="2028"/>
              </a:lnSpc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Boletas vencidas bloquean el pago del EDP hasta su regularización.</a:t>
            </a:r>
          </a:p>
          <a:p>
            <a:pPr marL="302261" lvl="1" indent="-151130" algn="l">
              <a:lnSpc>
                <a:spcPts val="2028"/>
              </a:lnSpc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Contratos con modificaciones superiores al 10% sin boleta ajustada deberán mantenerse provisionados.</a:t>
            </a:r>
          </a:p>
          <a:p>
            <a:pPr marL="302261" lvl="1" indent="-151130" algn="l">
              <a:lnSpc>
                <a:spcPts val="2028"/>
              </a:lnSpc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Casos ambiguos deberán escalarse al Administrador del Contrato o Abastecimiento para validación contractual.</a:t>
            </a:r>
          </a:p>
          <a:p>
            <a:pPr algn="l">
              <a:lnSpc>
                <a:spcPts val="2028"/>
              </a:lnSpc>
              <a:spcBef>
                <a:spcPct val="0"/>
              </a:spcBef>
            </a:pP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  <a:sym typeface="Calibri (MS)"/>
            </a:endParaRPr>
          </a:p>
        </p:txBody>
      </p:sp>
      <p:sp>
        <p:nvSpPr>
          <p:cNvPr id="100" name="TextBox 100"/>
          <p:cNvSpPr txBox="1"/>
          <p:nvPr/>
        </p:nvSpPr>
        <p:spPr>
          <a:xfrm>
            <a:off x="13346199" y="6954783"/>
            <a:ext cx="4101267" cy="2519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El control de boletas de garantía:</a:t>
            </a:r>
          </a:p>
          <a:p>
            <a:pPr marL="323850" lvl="1" indent="-161925" algn="l">
              <a:lnSpc>
                <a:spcPts val="2173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Tiene carácter preventivo y de mitigación de riesgo contractual.</a:t>
            </a:r>
          </a:p>
          <a:p>
            <a:pPr marL="323850" lvl="1" indent="-161925" algn="l">
              <a:lnSpc>
                <a:spcPts val="2173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No reemplaza las responsabilidades contractuales de Abastecimiento.</a:t>
            </a:r>
          </a:p>
          <a:p>
            <a:pPr marL="323850" lvl="1" indent="-161925" algn="l">
              <a:lnSpc>
                <a:spcPts val="2173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No habilita modificaciones contractuales.</a:t>
            </a:r>
          </a:p>
          <a:p>
            <a:pPr marL="323850" lvl="1" indent="-161925" algn="l">
              <a:lnSpc>
                <a:spcPts val="2173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 (MS)"/>
              </a:rPr>
              <a:t>Permite asegurar que los pagos de EDP cuenten con respaldo contractual vigente.</a:t>
            </a:r>
          </a:p>
          <a:p>
            <a:pPr algn="l">
              <a:lnSpc>
                <a:spcPts val="2173"/>
              </a:lnSpc>
              <a:spcBef>
                <a:spcPct val="0"/>
              </a:spcBef>
            </a:pPr>
            <a:endParaRPr lang="en-US" sz="1500">
              <a:solidFill>
                <a:srgbClr val="000000"/>
              </a:solidFill>
              <a:latin typeface="Calibri"/>
              <a:ea typeface="Calibri"/>
              <a:cs typeface="Calibri"/>
              <a:sym typeface="Calibri (MS)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8743E91485A5E45879A9B731E1658E0" ma:contentTypeVersion="3" ma:contentTypeDescription="Crear nuevo documento." ma:contentTypeScope="" ma:versionID="12b715dbede7b8453a80372b87912c2e">
  <xsd:schema xmlns:xsd="http://www.w3.org/2001/XMLSchema" xmlns:xs="http://www.w3.org/2001/XMLSchema" xmlns:p="http://schemas.microsoft.com/office/2006/metadata/properties" xmlns:ns2="407ea779-b773-4460-a625-b2007399de77" targetNamespace="http://schemas.microsoft.com/office/2006/metadata/properties" ma:root="true" ma:fieldsID="9a1435c839457a0ecc5089839f5f8934" ns2:_="">
    <xsd:import namespace="407ea779-b773-4460-a625-b2007399de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7ea779-b773-4460-a625-b2007399de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016407-E160-48CC-9E8D-C11DFF1DBFC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05241DA-9316-453C-8712-E0885CFD0A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5581C9F-4070-418A-8380-10199B3FC7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7ea779-b773-4460-a625-b2007399de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Personalizado</PresentationFormat>
  <Paragraphs>0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3" baseType="lpstr">
      <vt:lpstr>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Estándar de categorización FTE</dc:title>
  <cp:revision>2</cp:revision>
  <dcterms:created xsi:type="dcterms:W3CDTF">2006-08-16T00:00:00Z</dcterms:created>
  <dcterms:modified xsi:type="dcterms:W3CDTF">2026-03-10T21:13:51Z</dcterms:modified>
  <dc:identifier>DAHA7N8uocg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0x01010008743E91485A5E45879A9B731E1658E0</vt:lpwstr>
  </property>
</Properties>
</file>