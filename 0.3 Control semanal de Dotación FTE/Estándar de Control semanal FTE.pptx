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rebuchet MS Bold" charset="1" panose="020B0703020202020204"/>
      <p:regular r:id="rId7"/>
    </p:embeddedFont>
    <p:embeddedFont>
      <p:font typeface="Arimo Bold" charset="1" panose="020B0704020202020204"/>
      <p:regular r:id="rId8"/>
    </p:embeddedFont>
    <p:embeddedFont>
      <p:font typeface="Calibri (MS)" charset="1" panose="020F0502020204030204"/>
      <p:regular r:id="rId9"/>
    </p:embeddedFont>
    <p:embeddedFont>
      <p:font typeface="Trebuchet MS" charset="1" panose="020B0603020202020204"/>
      <p:regular r:id="rId10"/>
    </p:embeddedFont>
    <p:embeddedFont>
      <p:font typeface="Calibri (MS) Bold" charset="1" panose="020F070203040403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8.fntdata"/><Relationship Id="rId13" Type="http://schemas.openxmlformats.org/officeDocument/2006/relationships/customXml" Target="../customXml/item2.xml"/><Relationship Id="rId3" Type="http://schemas.openxmlformats.org/officeDocument/2006/relationships/viewProps" Target="viewProps.xml"/><Relationship Id="rId7" Type="http://schemas.openxmlformats.org/officeDocument/2006/relationships/font" Target="fonts/font7.fntdata"/><Relationship Id="rId12" Type="http://schemas.openxmlformats.org/officeDocument/2006/relationships/customXml" Target="../customXml/item1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11.fntdata"/><Relationship Id="rId6" Type="http://schemas.openxmlformats.org/officeDocument/2006/relationships/slide" Target="slides/slide1.xml"/><Relationship Id="rId5" Type="http://schemas.openxmlformats.org/officeDocument/2006/relationships/tableStyles" Target="tableStyles.xml"/><Relationship Id="rId10" Type="http://schemas.openxmlformats.org/officeDocument/2006/relationships/font" Target="fonts/font10.fntdata"/><Relationship Id="rId4" Type="http://schemas.openxmlformats.org/officeDocument/2006/relationships/theme" Target="theme/theme1.xml"/><Relationship Id="rId9" Type="http://schemas.openxmlformats.org/officeDocument/2006/relationships/font" Target="fonts/font9.fntdata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jpeg" Type="http://schemas.openxmlformats.org/officeDocument/2006/relationships/image"/><Relationship Id="rId12" Target="../media/image11.jpe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jpe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80368" y="-70933"/>
            <a:ext cx="1222248" cy="1225296"/>
            <a:chOff x="0" y="0"/>
            <a:chExt cx="1629664" cy="1633728"/>
          </a:xfrm>
        </p:grpSpPr>
        <p:sp>
          <p:nvSpPr>
            <p:cNvPr name="Freeform 3" id="3" descr="Imagen que contiene Interfaz de usuario gráfica  Descripción generada automáticamente"/>
            <p:cNvSpPr/>
            <p:nvPr/>
          </p:nvSpPr>
          <p:spPr>
            <a:xfrm flipH="false" flipV="false" rot="0">
              <a:off x="0" y="0"/>
              <a:ext cx="1629664" cy="1633728"/>
            </a:xfrm>
            <a:custGeom>
              <a:avLst/>
              <a:gdLst/>
              <a:ahLst/>
              <a:cxnLst/>
              <a:rect r="r" b="b" t="t" l="l"/>
              <a:pathLst>
                <a:path h="1633728" w="1629664">
                  <a:moveTo>
                    <a:pt x="0" y="0"/>
                  </a:moveTo>
                  <a:lnTo>
                    <a:pt x="1629664" y="0"/>
                  </a:lnTo>
                  <a:lnTo>
                    <a:pt x="1629664" y="1633728"/>
                  </a:lnTo>
                  <a:lnTo>
                    <a:pt x="0" y="1633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4" t="0" r="-12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24832" y="1125312"/>
            <a:ext cx="374618" cy="374618"/>
            <a:chOff x="0" y="0"/>
            <a:chExt cx="499491" cy="4994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9491" cy="499491"/>
            </a:xfrm>
            <a:custGeom>
              <a:avLst/>
              <a:gdLst/>
              <a:ahLst/>
              <a:cxnLst/>
              <a:rect r="r" b="b" t="t" l="l"/>
              <a:pathLst>
                <a:path h="499491" w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007A9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1962" y="1125312"/>
            <a:ext cx="374618" cy="374618"/>
            <a:chOff x="0" y="0"/>
            <a:chExt cx="499491" cy="4994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9491" cy="499491"/>
            </a:xfrm>
            <a:custGeom>
              <a:avLst/>
              <a:gdLst/>
              <a:ahLst/>
              <a:cxnLst/>
              <a:rect r="r" b="b" t="t" l="l"/>
              <a:pathLst>
                <a:path h="499491" w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62CDC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39102" y="1125312"/>
            <a:ext cx="374618" cy="374618"/>
            <a:chOff x="0" y="0"/>
            <a:chExt cx="499491" cy="499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9491" cy="499491"/>
            </a:xfrm>
            <a:custGeom>
              <a:avLst/>
              <a:gdLst/>
              <a:ahLst/>
              <a:cxnLst/>
              <a:rect r="r" b="b" t="t" l="l"/>
              <a:pathLst>
                <a:path h="499491" w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D4202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46232" y="1125312"/>
            <a:ext cx="374618" cy="374618"/>
            <a:chOff x="0" y="0"/>
            <a:chExt cx="499491" cy="499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9491" cy="499491"/>
            </a:xfrm>
            <a:custGeom>
              <a:avLst/>
              <a:gdLst/>
              <a:ahLst/>
              <a:cxnLst/>
              <a:rect r="r" b="b" t="t" l="l"/>
              <a:pathLst>
                <a:path h="499491" w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EDAB00"/>
            </a:solidFill>
          </p:spPr>
        </p:sp>
      </p:grpSp>
      <p:sp>
        <p:nvSpPr>
          <p:cNvPr name="Freeform 12" id="12" descr="Signo de intercalación hacia arriba contorno"/>
          <p:cNvSpPr/>
          <p:nvPr/>
        </p:nvSpPr>
        <p:spPr>
          <a:xfrm flipH="false" flipV="false" rot="0">
            <a:off x="17182528" y="8698925"/>
            <a:ext cx="1027224" cy="1027224"/>
          </a:xfrm>
          <a:custGeom>
            <a:avLst/>
            <a:gdLst/>
            <a:ahLst/>
            <a:cxnLst/>
            <a:rect r="r" b="b" t="t" l="l"/>
            <a:pathLst>
              <a:path h="1027224" w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Signo de intercalación hacia arriba contorno"/>
          <p:cNvSpPr/>
          <p:nvPr/>
        </p:nvSpPr>
        <p:spPr>
          <a:xfrm flipH="false" flipV="false" rot="0">
            <a:off x="17182528" y="9015412"/>
            <a:ext cx="1027224" cy="1027224"/>
          </a:xfrm>
          <a:custGeom>
            <a:avLst/>
            <a:gdLst/>
            <a:ahLst/>
            <a:cxnLst/>
            <a:rect r="r" b="b" t="t" l="l"/>
            <a:pathLst>
              <a:path h="1027224" w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Signo de intercalación hacia arriba contorno"/>
          <p:cNvSpPr/>
          <p:nvPr/>
        </p:nvSpPr>
        <p:spPr>
          <a:xfrm flipH="false" flipV="false" rot="0">
            <a:off x="17182528" y="8857174"/>
            <a:ext cx="1027224" cy="1027224"/>
          </a:xfrm>
          <a:custGeom>
            <a:avLst/>
            <a:gdLst/>
            <a:ahLst/>
            <a:cxnLst/>
            <a:rect r="r" b="b" t="t" l="l"/>
            <a:pathLst>
              <a:path h="1027224" w="1027224">
                <a:moveTo>
                  <a:pt x="0" y="0"/>
                </a:moveTo>
                <a:lnTo>
                  <a:pt x="1027224" y="0"/>
                </a:lnTo>
                <a:lnTo>
                  <a:pt x="1027224" y="1027223"/>
                </a:lnTo>
                <a:lnTo>
                  <a:pt x="0" y="1027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Signo de intercalación hacia arriba contorno"/>
          <p:cNvSpPr/>
          <p:nvPr/>
        </p:nvSpPr>
        <p:spPr>
          <a:xfrm flipH="false" flipV="false" rot="0">
            <a:off x="17182528" y="9173651"/>
            <a:ext cx="1027224" cy="1027224"/>
          </a:xfrm>
          <a:custGeom>
            <a:avLst/>
            <a:gdLst/>
            <a:ahLst/>
            <a:cxnLst/>
            <a:rect r="r" b="b" t="t" l="l"/>
            <a:pathLst>
              <a:path h="1027224" w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330661" y="9876873"/>
            <a:ext cx="757333" cy="324040"/>
            <a:chOff x="0" y="0"/>
            <a:chExt cx="1009777" cy="4320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9777" cy="432054"/>
            </a:xfrm>
            <a:custGeom>
              <a:avLst/>
              <a:gdLst/>
              <a:ahLst/>
              <a:cxnLst/>
              <a:rect r="r" b="b" t="t" l="l"/>
              <a:pathLst>
                <a:path h="432054" w="1009777">
                  <a:moveTo>
                    <a:pt x="0" y="0"/>
                  </a:moveTo>
                  <a:lnTo>
                    <a:pt x="1009777" y="0"/>
                  </a:lnTo>
                  <a:lnTo>
                    <a:pt x="1009777" y="432054"/>
                  </a:lnTo>
                  <a:lnTo>
                    <a:pt x="0" y="432054"/>
                  </a:lnTo>
                </a:path>
              </a:pathLst>
            </a:custGeom>
            <a:solidFill>
              <a:srgbClr val="888B8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30661" y="9869729"/>
            <a:ext cx="757323" cy="331146"/>
            <a:chOff x="0" y="0"/>
            <a:chExt cx="1009764" cy="4415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9764" cy="441528"/>
            </a:xfrm>
            <a:custGeom>
              <a:avLst/>
              <a:gdLst/>
              <a:ahLst/>
              <a:cxnLst/>
              <a:rect r="r" b="b" t="t" l="l"/>
              <a:pathLst>
                <a:path h="441528" w="1009764">
                  <a:moveTo>
                    <a:pt x="0" y="0"/>
                  </a:moveTo>
                  <a:lnTo>
                    <a:pt x="1009764" y="0"/>
                  </a:lnTo>
                  <a:lnTo>
                    <a:pt x="1009764" y="441528"/>
                  </a:lnTo>
                  <a:lnTo>
                    <a:pt x="0" y="4415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6101" t="0" r="-610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09764" cy="451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‹Nº›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935696" y="238849"/>
            <a:ext cx="2152269" cy="618363"/>
            <a:chOff x="0" y="0"/>
            <a:chExt cx="2869692" cy="824484"/>
          </a:xfrm>
        </p:grpSpPr>
        <p:sp>
          <p:nvSpPr>
            <p:cNvPr name="Freeform 22" id="22" descr="Image result for los pelambres logo"/>
            <p:cNvSpPr/>
            <p:nvPr/>
          </p:nvSpPr>
          <p:spPr>
            <a:xfrm flipH="false" flipV="false" rot="0">
              <a:off x="0" y="0"/>
              <a:ext cx="2869692" cy="824484"/>
            </a:xfrm>
            <a:custGeom>
              <a:avLst/>
              <a:gdLst/>
              <a:ahLst/>
              <a:cxnLst/>
              <a:rect r="r" b="b" t="t" l="l"/>
              <a:pathLst>
                <a:path h="824484" w="2869692">
                  <a:moveTo>
                    <a:pt x="0" y="0"/>
                  </a:moveTo>
                  <a:lnTo>
                    <a:pt x="2869692" y="0"/>
                  </a:lnTo>
                  <a:lnTo>
                    <a:pt x="2869692" y="824484"/>
                  </a:lnTo>
                  <a:lnTo>
                    <a:pt x="0" y="824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0659" r="0" b="-8065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3240">
            <a:off x="238039" y="1308640"/>
            <a:ext cx="15229961" cy="9525"/>
            <a:chOff x="0" y="0"/>
            <a:chExt cx="20306614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306664" cy="12700"/>
            </a:xfrm>
            <a:custGeom>
              <a:avLst/>
              <a:gdLst/>
              <a:ahLst/>
              <a:cxnLst/>
              <a:rect r="r" b="b" t="t" l="l"/>
              <a:pathLst>
                <a:path h="12700" w="20306664">
                  <a:moveTo>
                    <a:pt x="6350" y="0"/>
                  </a:moveTo>
                  <a:lnTo>
                    <a:pt x="20300314" y="0"/>
                  </a:lnTo>
                  <a:cubicBezTo>
                    <a:pt x="20303871" y="0"/>
                    <a:pt x="20306664" y="2794"/>
                    <a:pt x="20306664" y="6350"/>
                  </a:cubicBezTo>
                  <a:cubicBezTo>
                    <a:pt x="20306664" y="9906"/>
                    <a:pt x="20303871" y="12700"/>
                    <a:pt x="20300314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778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121260">
            <a:off x="17880701" y="1299562"/>
            <a:ext cx="414576" cy="9525"/>
            <a:chOff x="0" y="0"/>
            <a:chExt cx="552768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831" cy="12700"/>
            </a:xfrm>
            <a:custGeom>
              <a:avLst/>
              <a:gdLst/>
              <a:ahLst/>
              <a:cxnLst/>
              <a:rect r="r" b="b" t="t" l="l"/>
              <a:pathLst>
                <a:path h="12700" w="552831">
                  <a:moveTo>
                    <a:pt x="6350" y="0"/>
                  </a:moveTo>
                  <a:lnTo>
                    <a:pt x="546481" y="0"/>
                  </a:lnTo>
                  <a:cubicBezTo>
                    <a:pt x="550037" y="0"/>
                    <a:pt x="552831" y="2794"/>
                    <a:pt x="552831" y="6350"/>
                  </a:cubicBezTo>
                  <a:cubicBezTo>
                    <a:pt x="552831" y="9906"/>
                    <a:pt x="550037" y="12700"/>
                    <a:pt x="54648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778B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3285803" y="1538830"/>
            <a:ext cx="4161663" cy="7719470"/>
          </a:xfrm>
          <a:custGeom>
            <a:avLst/>
            <a:gdLst/>
            <a:ahLst/>
            <a:cxnLst/>
            <a:rect r="r" b="b" t="t" l="l"/>
            <a:pathLst>
              <a:path h="7719470" w="4161663">
                <a:moveTo>
                  <a:pt x="0" y="0"/>
                </a:moveTo>
                <a:lnTo>
                  <a:pt x="4161663" y="0"/>
                </a:lnTo>
                <a:lnTo>
                  <a:pt x="4161663" y="7719470"/>
                </a:lnTo>
                <a:lnTo>
                  <a:pt x="0" y="77194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7318974" y="9200245"/>
            <a:ext cx="722662" cy="653796"/>
            <a:chOff x="0" y="0"/>
            <a:chExt cx="963549" cy="8717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3549" cy="871728"/>
            </a:xfrm>
            <a:custGeom>
              <a:avLst/>
              <a:gdLst/>
              <a:ahLst/>
              <a:cxnLst/>
              <a:rect r="r" b="b" t="t" l="l"/>
              <a:pathLst>
                <a:path h="871728" w="963549">
                  <a:moveTo>
                    <a:pt x="0" y="0"/>
                  </a:moveTo>
                  <a:lnTo>
                    <a:pt x="963549" y="0"/>
                  </a:lnTo>
                  <a:lnTo>
                    <a:pt x="963549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91913" t="0" r="-91915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423997" y="1138238"/>
            <a:ext cx="864013" cy="54007"/>
            <a:chOff x="0" y="0"/>
            <a:chExt cx="1152017" cy="720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2017" cy="72009"/>
            </a:xfrm>
            <a:custGeom>
              <a:avLst/>
              <a:gdLst/>
              <a:ahLst/>
              <a:cxnLst/>
              <a:rect r="r" b="b" t="t" l="l"/>
              <a:pathLst>
                <a:path h="72009" w="1152017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007A9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423997" y="1223962"/>
            <a:ext cx="864013" cy="54007"/>
            <a:chOff x="0" y="0"/>
            <a:chExt cx="1152017" cy="720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52017" cy="72009"/>
            </a:xfrm>
            <a:custGeom>
              <a:avLst/>
              <a:gdLst/>
              <a:ahLst/>
              <a:cxnLst/>
              <a:rect r="r" b="b" t="t" l="l"/>
              <a:pathLst>
                <a:path h="72009" w="1152017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62CDC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423997" y="1309688"/>
            <a:ext cx="864013" cy="54007"/>
            <a:chOff x="0" y="0"/>
            <a:chExt cx="1152017" cy="720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2017" cy="72009"/>
            </a:xfrm>
            <a:custGeom>
              <a:avLst/>
              <a:gdLst/>
              <a:ahLst/>
              <a:cxnLst/>
              <a:rect r="r" b="b" t="t" l="l"/>
              <a:pathLst>
                <a:path h="72009" w="1152017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D4202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423997" y="1395412"/>
            <a:ext cx="864013" cy="54007"/>
            <a:chOff x="0" y="0"/>
            <a:chExt cx="1152017" cy="720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2017" cy="72009"/>
            </a:xfrm>
            <a:custGeom>
              <a:avLst/>
              <a:gdLst/>
              <a:ahLst/>
              <a:cxnLst/>
              <a:rect r="r" b="b" t="t" l="l"/>
              <a:pathLst>
                <a:path h="72009" w="1152017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EDAB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328" y="1181"/>
            <a:ext cx="15584157" cy="1000725"/>
            <a:chOff x="0" y="0"/>
            <a:chExt cx="20778876" cy="1334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78851" cy="1334262"/>
            </a:xfrm>
            <a:custGeom>
              <a:avLst/>
              <a:gdLst/>
              <a:ahLst/>
              <a:cxnLst/>
              <a:rect r="r" b="b" t="t" l="l"/>
              <a:pathLst>
                <a:path h="1334262" w="20778851">
                  <a:moveTo>
                    <a:pt x="0" y="0"/>
                  </a:moveTo>
                  <a:lnTo>
                    <a:pt x="20778851" y="0"/>
                  </a:lnTo>
                  <a:lnTo>
                    <a:pt x="20778851" y="1334262"/>
                  </a:lnTo>
                  <a:lnTo>
                    <a:pt x="0" y="1334262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40103" r="0" b="-4010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38328" y="-55969"/>
            <a:ext cx="15584157" cy="1057874"/>
            <a:chOff x="0" y="0"/>
            <a:chExt cx="20778876" cy="14104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778876" cy="1410497"/>
            </a:xfrm>
            <a:custGeom>
              <a:avLst/>
              <a:gdLst/>
              <a:ahLst/>
              <a:cxnLst/>
              <a:rect r="r" b="b" t="t" l="l"/>
              <a:pathLst>
                <a:path h="1410497" w="20778876">
                  <a:moveTo>
                    <a:pt x="0" y="0"/>
                  </a:moveTo>
                  <a:lnTo>
                    <a:pt x="20778876" y="0"/>
                  </a:lnTo>
                  <a:lnTo>
                    <a:pt x="20778876" y="1410497"/>
                  </a:lnTo>
                  <a:lnTo>
                    <a:pt x="0" y="1410497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37045" r="0" b="-2370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0778876" cy="1439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4464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Estándar de Control semanal FTE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78248" y="1499949"/>
            <a:ext cx="4161663" cy="8469678"/>
          </a:xfrm>
          <a:custGeom>
            <a:avLst/>
            <a:gdLst/>
            <a:ahLst/>
            <a:cxnLst/>
            <a:rect r="r" b="b" t="t" l="l"/>
            <a:pathLst>
              <a:path h="8469678" w="4161663">
                <a:moveTo>
                  <a:pt x="0" y="0"/>
                </a:moveTo>
                <a:lnTo>
                  <a:pt x="4161663" y="0"/>
                </a:lnTo>
                <a:lnTo>
                  <a:pt x="4161663" y="8469678"/>
                </a:lnTo>
                <a:lnTo>
                  <a:pt x="0" y="84696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38328" y="1658655"/>
            <a:ext cx="3661305" cy="423672"/>
            <a:chOff x="0" y="0"/>
            <a:chExt cx="4881740" cy="564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89439" y="5654716"/>
            <a:ext cx="3610194" cy="417757"/>
            <a:chOff x="0" y="0"/>
            <a:chExt cx="4813592" cy="5570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13554" cy="557022"/>
            </a:xfrm>
            <a:custGeom>
              <a:avLst/>
              <a:gdLst/>
              <a:ahLst/>
              <a:cxnLst/>
              <a:rect r="r" b="b" t="t" l="l"/>
              <a:pathLst>
                <a:path h="557022" w="4813554">
                  <a:moveTo>
                    <a:pt x="0" y="0"/>
                  </a:moveTo>
                  <a:lnTo>
                    <a:pt x="4813554" y="0"/>
                  </a:lnTo>
                  <a:lnTo>
                    <a:pt x="4813554" y="557022"/>
                  </a:lnTo>
                  <a:lnTo>
                    <a:pt x="0" y="557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2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4505277" y="1499949"/>
            <a:ext cx="4161663" cy="8469678"/>
          </a:xfrm>
          <a:custGeom>
            <a:avLst/>
            <a:gdLst/>
            <a:ahLst/>
            <a:cxnLst/>
            <a:rect r="r" b="b" t="t" l="l"/>
            <a:pathLst>
              <a:path h="8469678" w="4161663">
                <a:moveTo>
                  <a:pt x="0" y="0"/>
                </a:moveTo>
                <a:lnTo>
                  <a:pt x="4161663" y="0"/>
                </a:lnTo>
                <a:lnTo>
                  <a:pt x="4161663" y="8469678"/>
                </a:lnTo>
                <a:lnTo>
                  <a:pt x="0" y="84696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338328" y="1604143"/>
            <a:ext cx="2801388" cy="3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66678" indent="-155559" lvl="2">
              <a:lnSpc>
                <a:spcPts val="2958"/>
              </a:lnSpc>
              <a:buAutoNum type="arabicPeriod" startAt="1"/>
            </a:pPr>
            <a:r>
              <a:rPr lang="en-US" sz="204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Propósito y Riesgo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9358" y="5568991"/>
            <a:ext cx="2797912" cy="4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5"/>
              </a:lnSpc>
            </a:pPr>
            <a:r>
              <a:rPr lang="en-US" sz="201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 Alcance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4755461" y="1658655"/>
            <a:ext cx="3661305" cy="423672"/>
            <a:chOff x="0" y="0"/>
            <a:chExt cx="4881740" cy="5648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819050" y="4656306"/>
            <a:ext cx="3661305" cy="423672"/>
            <a:chOff x="0" y="0"/>
            <a:chExt cx="4881740" cy="564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026819" y="2391318"/>
            <a:ext cx="228600" cy="228600"/>
            <a:chOff x="0" y="0"/>
            <a:chExt cx="304800" cy="304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-78391" t="0" r="-7839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026819" y="2355599"/>
            <a:ext cx="228600" cy="264319"/>
            <a:chOff x="0" y="0"/>
            <a:chExt cx="304800" cy="3524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800" cy="352425"/>
            </a:xfrm>
            <a:custGeom>
              <a:avLst/>
              <a:gdLst/>
              <a:ahLst/>
              <a:cxnLst/>
              <a:rect r="r" b="b" t="t" l="l"/>
              <a:pathLst>
                <a:path h="352425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52425"/>
                  </a:lnTo>
                  <a:lnTo>
                    <a:pt x="0" y="352425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98351" t="0" r="-9835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04800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8"/>
                </a:lnSpc>
              </a:pPr>
              <a:r>
                <a:rPr lang="en-US" sz="92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4610398" y="9913268"/>
            <a:ext cx="1875511" cy="15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20170424 - Capacitación Usuarios v6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39498" y="9913268"/>
            <a:ext cx="199577" cy="15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DFF4F4"/>
                </a:solidFill>
                <a:latin typeface="Trebuchet MS"/>
                <a:ea typeface="Trebuchet MS"/>
                <a:cs typeface="Trebuchet MS"/>
                <a:sym typeface="Trebuchet MS"/>
              </a:rPr>
              <a:t>SAO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942665" y="4561075"/>
            <a:ext cx="3046466" cy="3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4. Flujo macro del estándar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665950" y="1619669"/>
            <a:ext cx="2754468" cy="39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3.Resultado esperado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305299" y="623405"/>
            <a:ext cx="3817544" cy="667093"/>
            <a:chOff x="0" y="0"/>
            <a:chExt cx="5090058" cy="88945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90160" cy="889437"/>
            </a:xfrm>
            <a:custGeom>
              <a:avLst/>
              <a:gdLst/>
              <a:ahLst/>
              <a:cxnLst/>
              <a:rect r="r" b="b" t="t" l="l"/>
              <a:pathLst>
                <a:path h="889437" w="5090160">
                  <a:moveTo>
                    <a:pt x="284226" y="0"/>
                  </a:moveTo>
                  <a:lnTo>
                    <a:pt x="4805934" y="0"/>
                  </a:lnTo>
                  <a:cubicBezTo>
                    <a:pt x="4962906" y="0"/>
                    <a:pt x="5090160" y="199154"/>
                    <a:pt x="5090160" y="444818"/>
                  </a:cubicBezTo>
                  <a:cubicBezTo>
                    <a:pt x="5090160" y="562681"/>
                    <a:pt x="5060188" y="675972"/>
                    <a:pt x="5006975" y="759252"/>
                  </a:cubicBezTo>
                  <a:cubicBezTo>
                    <a:pt x="4953762" y="842531"/>
                    <a:pt x="4881372" y="889437"/>
                    <a:pt x="4806061" y="889437"/>
                  </a:cubicBezTo>
                  <a:lnTo>
                    <a:pt x="284226" y="889437"/>
                  </a:lnTo>
                  <a:cubicBezTo>
                    <a:pt x="127254" y="889437"/>
                    <a:pt x="0" y="690283"/>
                    <a:pt x="0" y="444818"/>
                  </a:cubicBezTo>
                  <a:cubicBezTo>
                    <a:pt x="0" y="199353"/>
                    <a:pt x="127254" y="0"/>
                    <a:pt x="284226" y="0"/>
                  </a:cubicBezTo>
                  <a:close/>
                </a:path>
              </a:pathLst>
            </a:custGeom>
            <a:solidFill>
              <a:srgbClr val="EDAB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542639" y="689829"/>
            <a:ext cx="148361" cy="167383"/>
            <a:chOff x="0" y="0"/>
            <a:chExt cx="197815" cy="223177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197866" cy="223139"/>
            </a:xfrm>
            <a:custGeom>
              <a:avLst/>
              <a:gdLst/>
              <a:ahLst/>
              <a:cxnLst/>
              <a:rect r="r" b="b" t="t" l="l"/>
              <a:pathLst>
                <a:path h="223139" w="197866">
                  <a:moveTo>
                    <a:pt x="0" y="0"/>
                  </a:moveTo>
                  <a:lnTo>
                    <a:pt x="197866" y="0"/>
                  </a:lnTo>
                  <a:lnTo>
                    <a:pt x="197866" y="223139"/>
                  </a:lnTo>
                  <a:lnTo>
                    <a:pt x="0" y="223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5395" r="25" b="-5418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1751909" y="578212"/>
            <a:ext cx="3257243" cy="7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4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Disparador: Monitoreo preventivo de la dotación de servicios terceros previo al cierre mensual.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8895540" y="1423245"/>
            <a:ext cx="4161663" cy="8430797"/>
          </a:xfrm>
          <a:custGeom>
            <a:avLst/>
            <a:gdLst/>
            <a:ahLst/>
            <a:cxnLst/>
            <a:rect r="r" b="b" t="t" l="l"/>
            <a:pathLst>
              <a:path h="8430797" w="4161663">
                <a:moveTo>
                  <a:pt x="0" y="0"/>
                </a:moveTo>
                <a:lnTo>
                  <a:pt x="4161663" y="0"/>
                </a:lnTo>
                <a:lnTo>
                  <a:pt x="4161663" y="8430796"/>
                </a:lnTo>
                <a:lnTo>
                  <a:pt x="0" y="84307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9137180" y="1689868"/>
            <a:ext cx="3661305" cy="423672"/>
            <a:chOff x="0" y="0"/>
            <a:chExt cx="4881740" cy="5648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9232730" y="1619669"/>
            <a:ext cx="2959798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5. Roles y responsabilidades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144000" y="3427442"/>
            <a:ext cx="3661305" cy="423672"/>
            <a:chOff x="0" y="0"/>
            <a:chExt cx="4881740" cy="5648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215790" y="3354216"/>
            <a:ext cx="3092272" cy="39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6.Puntos de control mínimos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086040" y="6259701"/>
            <a:ext cx="3678384" cy="425653"/>
            <a:chOff x="0" y="0"/>
            <a:chExt cx="4904511" cy="5675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04486" cy="567563"/>
            </a:xfrm>
            <a:custGeom>
              <a:avLst/>
              <a:gdLst/>
              <a:ahLst/>
              <a:cxnLst/>
              <a:rect r="r" b="b" t="t" l="l"/>
              <a:pathLst>
                <a:path h="567563" w="4904486">
                  <a:moveTo>
                    <a:pt x="0" y="0"/>
                  </a:moveTo>
                  <a:lnTo>
                    <a:pt x="4904486" y="0"/>
                  </a:lnTo>
                  <a:lnTo>
                    <a:pt x="4904486" y="567563"/>
                  </a:lnTo>
                  <a:lnTo>
                    <a:pt x="0" y="567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4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212542" y="6156164"/>
            <a:ext cx="2788472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7. Entradas y salidas clave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3452415" y="3938376"/>
            <a:ext cx="3661305" cy="423672"/>
            <a:chOff x="0" y="0"/>
            <a:chExt cx="4881740" cy="5648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463740" y="6530691"/>
            <a:ext cx="3661305" cy="423672"/>
            <a:chOff x="0" y="0"/>
            <a:chExt cx="4881740" cy="5648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81753" cy="564896"/>
            </a:xfrm>
            <a:custGeom>
              <a:avLst/>
              <a:gdLst/>
              <a:ahLst/>
              <a:cxnLst/>
              <a:rect r="r" b="b" t="t" l="l"/>
              <a:pathLst>
                <a:path h="564896" w="4881753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423730" y="1711233"/>
            <a:ext cx="3818915" cy="804615"/>
            <a:chOff x="0" y="0"/>
            <a:chExt cx="5091887" cy="10728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091938" cy="1072769"/>
            </a:xfrm>
            <a:custGeom>
              <a:avLst/>
              <a:gdLst/>
              <a:ahLst/>
              <a:cxnLst/>
              <a:rect r="r" b="b" t="t" l="l"/>
              <a:pathLst>
                <a:path h="1072769" w="5091938">
                  <a:moveTo>
                    <a:pt x="0" y="0"/>
                  </a:moveTo>
                  <a:lnTo>
                    <a:pt x="5091938" y="0"/>
                  </a:lnTo>
                  <a:lnTo>
                    <a:pt x="5091938" y="1072769"/>
                  </a:lnTo>
                  <a:lnTo>
                    <a:pt x="0" y="1072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41037" t="0" r="-41035" b="-4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533453" y="1655864"/>
            <a:ext cx="2908249" cy="84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8. Indicador de cumplimiento del estándar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214071" y="3863271"/>
            <a:ext cx="3590392" cy="47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9. Gestión de excepciones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342953" y="6476437"/>
            <a:ext cx="3661305" cy="4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10. Regla de no retroactividad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66994" y="6005017"/>
            <a:ext cx="215798" cy="51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</a:pPr>
            <a:r>
              <a:rPr lang="en-US" sz="2121">
                <a:solidFill>
                  <a:srgbClr val="00778B"/>
                </a:solidFill>
                <a:latin typeface="Calibri (MS)"/>
                <a:ea typeface="Calibri (MS)"/>
                <a:cs typeface="Calibri (MS)"/>
                <a:sym typeface="Calibri (MS)"/>
              </a:rPr>
              <a:t>✔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805046" y="6005017"/>
            <a:ext cx="219970" cy="50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120" b="true">
                <a:solidFill>
                  <a:srgbClr val="0077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95469" y="6452254"/>
            <a:ext cx="1757102" cy="334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terceros financiados con OPEX.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Contratos vigentes y en ejecución.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Dotación permanente y temporal.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Información proveniente de SIGA (consumo y accesos).</a:t>
            </a:r>
          </a:p>
          <a:p>
            <a:pPr algn="l" marL="280671" indent="-140336" lvl="1">
              <a:lnSpc>
                <a:spcPts val="1884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Conversión de headcount operativo a FTE para análisis semanal.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687657" y="5184753"/>
            <a:ext cx="3924090" cy="444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Desca</a:t>
            </a: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rga de reportes desde SIGA.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Construcción de la BD_Consumo_SIGA mediante integración de: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Consumos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FTE Detallado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Movimientos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Cruce con Inventario de contratos vigentes.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Identificación de presencia efectiva en faena.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Clasificación operativa Mina / Planta mediante casino de consumo.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Exclusión de dotación “Otros” (fuera de faena).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Consolidación de base operativa y actualización de Power BI.</a:t>
            </a:r>
          </a:p>
          <a:p>
            <a:pPr algn="l" marL="328892" indent="-164446" lvl="1">
              <a:lnSpc>
                <a:spcPts val="2207"/>
              </a:lnSpc>
              <a:buAutoNum type="arabicPeriod" startAt="1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Análisis de desviaciones por gerencia y contrato.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329075" y="6452254"/>
            <a:ext cx="1757102" cy="287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derivados del cierre mensual.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Regularizaciones contractuales </a:t>
            </a: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presupuestarias.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sin ejecución vigente.</a:t>
            </a:r>
          </a:p>
          <a:p>
            <a:pPr algn="l" marL="280671" indent="-140336" lvl="1">
              <a:lnSpc>
                <a:spcPts val="1883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Proyectos en etapa de diseño.</a:t>
            </a:r>
          </a:p>
          <a:p>
            <a:pPr algn="l" marL="280671" indent="-140336" lvl="1">
              <a:lnSpc>
                <a:spcPts val="1884"/>
              </a:lnSpc>
              <a:buFont typeface="Arial"/>
              <a:buChar char="•"/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oficial del dato FTE (proceso mensual).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57503" y="2153196"/>
            <a:ext cx="4074066" cy="312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13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Propósito</a:t>
            </a:r>
          </a:p>
          <a:p>
            <a:pPr algn="l">
              <a:lnSpc>
                <a:spcPts val="1917"/>
              </a:lnSpc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Establecer un estándar para la ejecución del control semanal de dotación FTE de servicios terceros, permitiendo identificar tempranamente desviaciones respecto de la dotación contractual y presupuestada, y habilitando una gestión preventiva previa al cierre mensual.</a:t>
            </a:r>
          </a:p>
          <a:p>
            <a:pPr algn="l">
              <a:lnSpc>
                <a:spcPts val="1917"/>
              </a:lnSpc>
            </a:pPr>
          </a:p>
          <a:p>
            <a:pPr algn="l">
              <a:lnSpc>
                <a:spcPts val="1917"/>
              </a:lnSpc>
            </a:pPr>
            <a:r>
              <a:rPr lang="en-US" sz="13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Riesgo </a:t>
            </a:r>
          </a:p>
          <a:p>
            <a:pPr algn="l">
              <a:lnSpc>
                <a:spcPts val="1917"/>
              </a:lnSpc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ausencia de un control semanal estructurado puede generar identificación tardía de desviaciones en la dotación de servicios terceros, reduciendo la visibilidad de riesgos operacionales, contractuales y presupuestarios, y limitando la gestión oportuna antes del cierre mensual.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569062" y="2129295"/>
            <a:ext cx="4097879" cy="259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2"/>
              </a:lnSpc>
            </a:pPr>
            <a:r>
              <a:rPr lang="en-US" sz="14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aplicación del control semanal de dotación FTE permite contar con una visión anticipada del comportamiento de la dotación de servicios terceros, facilitando la identificación temprana de desviaciones respecto del presupuesto y de la dotación contractual. Este proceso habilita una gestión preventiva por parte de los Administradores de Contrato y las áreas operativas, generando insumos para el análisis del pre-cierre mensual y la proyección del outlook dotacional.</a:t>
            </a:r>
          </a:p>
          <a:p>
            <a:pPr algn="just">
              <a:lnSpc>
                <a:spcPts val="2062"/>
              </a:lnSpc>
            </a:pPr>
          </a:p>
        </p:txBody>
      </p:sp>
      <p:sp>
        <p:nvSpPr>
          <p:cNvPr name="TextBox 95" id="95"/>
          <p:cNvSpPr txBox="true"/>
          <p:nvPr/>
        </p:nvSpPr>
        <p:spPr>
          <a:xfrm rot="0">
            <a:off x="9003632" y="2151640"/>
            <a:ext cx="4097879" cy="113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a las Personas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Protección Industrial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Administrador de Contrato (AdC)</a:t>
            </a:r>
          </a:p>
          <a:p>
            <a:pPr algn="l" marL="328892" indent="-164446" lvl="1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Especialista GST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086040" y="3841589"/>
            <a:ext cx="3996704" cy="233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Descarga de reportes 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Construcción de llave de cruce fecha + hora + RUT para integración de fuentes.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Cruce con inventario de contratos vigentes para incorporar información contractual.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Exclusión de dotación ubicada fuera de faena.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Clasificación consistente de dotación Mina / Planta.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Registro de ajustes manuales para trazabilidad.</a:t>
            </a:r>
          </a:p>
          <a:p>
            <a:pPr algn="l">
              <a:lnSpc>
                <a:spcPts val="2028"/>
              </a:lnSpc>
            </a:pPr>
            <a:r>
              <a:rPr lang="en-US" sz="1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Actualización de base consolidada en Power BI.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990790" y="6712268"/>
            <a:ext cx="4123563" cy="335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7"/>
              </a:lnSpc>
            </a:pPr>
            <a:r>
              <a:rPr lang="en-US" sz="13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Entradas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 de Consumos (SIGA)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 FTE Detallado (SIGA)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Reporte de Movimientos (SIGA)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Inventario de contratos vigentes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Criterios de clasificación dotacional</a:t>
            </a:r>
          </a:p>
          <a:p>
            <a:pPr algn="just">
              <a:lnSpc>
                <a:spcPts val="1917"/>
              </a:lnSpc>
            </a:pPr>
            <a:r>
              <a:rPr lang="en-US" sz="132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Salidas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 consolidada BD_Consumo_SIGA.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 semanal de dotación FTE por contrato y gerencia.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Identificación de principales causas de desviación.</a:t>
            </a:r>
          </a:p>
          <a:p>
            <a:pPr algn="l" marL="285713" indent="-142857" lvl="1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Información para pre-cierre mensual y outlook dotacional.</a:t>
            </a:r>
          </a:p>
          <a:p>
            <a:pPr algn="just">
              <a:lnSpc>
                <a:spcPts val="1917"/>
              </a:lnSpc>
            </a:pPr>
          </a:p>
        </p:txBody>
      </p:sp>
      <p:sp>
        <p:nvSpPr>
          <p:cNvPr name="TextBox 98" id="98"/>
          <p:cNvSpPr txBox="true"/>
          <p:nvPr/>
        </p:nvSpPr>
        <p:spPr>
          <a:xfrm rot="0">
            <a:off x="13423730" y="2649198"/>
            <a:ext cx="4161663" cy="105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% de contratos con control semanal de dotación ejecutado y reportado antes del pre-cierre mensual.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% de desviaciones dotacionales identificadas previamente al cierre mensual.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462848" y="4447773"/>
            <a:ext cx="3700992" cy="192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Toda excepción en la clasificación o registro de dotación deberá quedar documentada en la base operativa.</a:t>
            </a:r>
          </a:p>
          <a:p>
            <a:pPr algn="l">
              <a:lnSpc>
                <a:spcPts val="188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Las desviaciones detectadas deberán ser analizadas por el AdC para identificar causas operativas.</a:t>
            </a:r>
          </a:p>
          <a:p>
            <a:pPr algn="l">
              <a:lnSpc>
                <a:spcPts val="1884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Desviaciones reiteradas deberán escalar a GST y Control de Gestión cuando exista potencial impacto presupuestario.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438203" y="7050033"/>
            <a:ext cx="3930767" cy="20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 control semanal de dotación FTE: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Tiene carácter preliminar y preventivo.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No valida ni autoriza sobredotaciones o subdotaciones.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No reemplaza el proceso de control mensual oficial.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No habilita ajustes contractuales o presupuestarios.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 objetivo es anticipar riesgos y habilitar gestión oportuna de desviaciones antes del cierre mensual.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743E91485A5E45879A9B731E1658E0" ma:contentTypeVersion="3" ma:contentTypeDescription="Crear nuevo documento." ma:contentTypeScope="" ma:versionID="12b715dbede7b8453a80372b87912c2e">
  <xsd:schema xmlns:xsd="http://www.w3.org/2001/XMLSchema" xmlns:xs="http://www.w3.org/2001/XMLSchema" xmlns:p="http://schemas.microsoft.com/office/2006/metadata/properties" xmlns:ns2="407ea779-b773-4460-a625-b2007399de77" targetNamespace="http://schemas.microsoft.com/office/2006/metadata/properties" ma:root="true" ma:fieldsID="9a1435c839457a0ecc5089839f5f8934" ns2:_="">
    <xsd:import namespace="407ea779-b773-4460-a625-b2007399de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ea779-b773-4460-a625-b2007399de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44CA96-757B-4807-826E-4990538143DA}"/>
</file>

<file path=customXml/itemProps2.xml><?xml version="1.0" encoding="utf-8"?>
<ds:datastoreItem xmlns:ds="http://schemas.openxmlformats.org/officeDocument/2006/customXml" ds:itemID="{EAAD2E97-B050-4B79-B3B3-04F26973AFD2}"/>
</file>

<file path=customXml/itemProps3.xml><?xml version="1.0" encoding="utf-8"?>
<ds:datastoreItem xmlns:ds="http://schemas.openxmlformats.org/officeDocument/2006/customXml" ds:itemID="{646BDDC9-696F-4C37-9E09-3EE811578D2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2006-08-16T00:00:00Z</dcterms:created>
  <dcterms:modified xsi:type="dcterms:W3CDTF">2011-08-01T06:04:30Z</dcterms:modified>
  <dc:identifier>DAHA7N8uocg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0x01010008743E91485A5E45879A9B731E1658E0</vt:lpwstr>
  </property>
  <property fmtid="{D5CDD505-2E9C-101B-9397-08002B2CF9AE}" pid="3" name="Order">
    <vt:r8>10400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